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8B8BBFE-2CC3-4DE7-AC3B-A1287703A83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675"/>
                </a:solidFill>
              </a:defRPr>
            </a:pPr>
            <a:r>
              <a:rPr sz="975" b="1">
                <a:solidFill>
                  <a:srgbClr val="5E6675"/>
                </a:solidFill>
              </a:rPr>
              <a:t>NEXRALL HR PLATFORM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E154CC-6B3F-43F3-ADBD-01B2184BA313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8096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0B1220"/>
                </a:solidFill>
              </a:defRPr>
            </a:pPr>
            <a:r>
              <a:rPr sz="4050" b="1">
                <a:solidFill>
                  <a:srgbClr val="0B1220"/>
                </a:solidFill>
              </a:rPr>
              <a:t>Phân quyền vai trò trong hệ thống HR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99EE8F-3636-4A5C-95D8-52788F3A1879}"/>
              </a:ext>
            </a:extLst>
          </p:cNvPr>
          <p:cNvSpPr>
            <a:spLocks noGrp="1"/>
          </p:cNvSpPr>
          <p:nvPr/>
        </p:nvSpPr>
        <p:spPr>
          <a:xfrm>
            <a:off x="400050" y="2781300"/>
            <a:ext cx="8096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E6675"/>
                </a:solidFill>
              </a:defRPr>
            </a:pPr>
            <a:r>
              <a:rPr sz="1650" b="0">
                <a:solidFill>
                  <a:srgbClr val="5E6675"/>
                </a:solidFill>
              </a:rPr>
              <a:t>Tài liệu tóm tắt chức năng cho Nhân viên / Thực tập sinh, Nhân sự và Admin (Anh Hậu), dựa trên route guard và UI hiện tại của dự án.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65AFE6-2072-47FE-A8AF-7A64953536FD}"/>
              </a:ext>
            </a:extLst>
          </p:cNvPr>
          <p:cNvSpPr>
            <a:spLocks noGrp="1"/>
          </p:cNvSpPr>
          <p:nvPr/>
        </p:nvSpPr>
        <p:spPr>
          <a:xfrm>
            <a:off x="400050" y="4476750"/>
            <a:ext cx="3390900" cy="87630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BE1C50-4501-4D68-810C-A158BD95FAF5}"/>
              </a:ext>
            </a:extLst>
          </p:cNvPr>
          <p:cNvSpPr>
            <a:spLocks noGrp="1"/>
          </p:cNvSpPr>
          <p:nvPr/>
        </p:nvSpPr>
        <p:spPr>
          <a:xfrm>
            <a:off x="628650" y="46958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3 nhóm vai trò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D1C61-19CC-4A45-9F66-C7E75A1ED722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E6675"/>
                </a:solidFill>
              </a:defRPr>
            </a:pPr>
            <a:r>
              <a:rPr sz="1125" b="0">
                <a:solidFill>
                  <a:srgbClr val="5E6675"/>
                </a:solidFill>
              </a:rPr>
              <a:t>Self-service → Vận hành HR → Toàn quyền hệ thống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108BF0-8B9E-4041-BB0B-ED436156D013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2933700" cy="6858000"/>
          </a:xfrm>
          <a:prstGeom prst="rect">
            <a:avLst/>
          </a:prstGeom>
          <a:solidFill>
            <a:srgbClr val="F2F4F7"/>
          </a:solidFill>
          <a:ln w="0">
            <a:solidFill>
              <a:srgbClr val="F2F4F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78BA32-5D2F-40D7-9044-6899384D7828}"/>
              </a:ext>
            </a:extLst>
          </p:cNvPr>
          <p:cNvSpPr>
            <a:spLocks noGrp="1"/>
          </p:cNvSpPr>
          <p:nvPr/>
        </p:nvSpPr>
        <p:spPr>
          <a:xfrm>
            <a:off x="9201150" y="5391150"/>
            <a:ext cx="2095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E6675"/>
                </a:solidFill>
              </a:defRPr>
            </a:pPr>
            <a:r>
              <a:rPr sz="1125" b="0">
                <a:solidFill>
                  <a:srgbClr val="5E6675"/>
                </a:solidFill>
              </a:rPr>
              <a:t>Nguồn: server.js, src/views/*.js</a:t>
            </a:r>
          </a:p>
          <a:p>
            <a:pPr algn="l">
              <a:defRPr sz="1125" b="0">
                <a:solidFill>
                  <a:srgbClr val="5E6675"/>
                </a:solidFill>
              </a:defRPr>
            </a:pPr>
            <a:r>
              <a:rPr sz="1125" b="0">
                <a:solidFill>
                  <a:srgbClr val="5E6675"/>
                </a:solidFill>
              </a:rPr>
              <a:t>Ngày lập: 23/07/2026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553D92-87BD-4E44-8460-EA88D4092472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E6675"/>
                </a:solidFill>
              </a:defRPr>
            </a:pPr>
            <a:r>
              <a:rPr sz="900" b="0">
                <a:solidFill>
                  <a:srgbClr val="5E667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7391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256D8E55-6FA9-4D6A-B017-7917A1B4F63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675"/>
                </a:solidFill>
              </a:defRPr>
            </a:pPr>
            <a:r>
              <a:rPr sz="975" b="1">
                <a:solidFill>
                  <a:srgbClr val="5E6675"/>
                </a:solidFill>
              </a:rPr>
              <a:t>ROLE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F2C57F-5DEA-44E0-9900-E4C3A74F8CC9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000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0B1220"/>
                </a:solidFill>
              </a:defRPr>
            </a:pPr>
            <a:r>
              <a:rPr sz="2775" b="1">
                <a:solidFill>
                  <a:srgbClr val="0B1220"/>
                </a:solidFill>
              </a:rPr>
              <a:t>Ba tầng quyền: tự phục vụ, vận hành nhân sự, quản trị hệ thống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A4795C-5F3D-4C2A-8687-05CDD8DAF559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E6675"/>
                </a:solidFill>
              </a:defRPr>
            </a:pPr>
            <a:r>
              <a:rPr sz="900" b="0">
                <a:solidFill>
                  <a:srgbClr val="5E6675"/>
                </a:solidFill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56C5AF-8863-4EFD-A67E-8075BD07B6D8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11430"/>
          </a:xfrm>
          <a:prstGeom prst="rect">
            <a:avLst/>
          </a:prstGeom>
          <a:solidFill>
            <a:srgbClr val="C6CBD3"/>
          </a:solidFill>
          <a:ln w="0">
            <a:solidFill>
              <a:srgbClr val="C6CBD3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4D2AD6-9143-461E-970F-EC75745FFA17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429000" cy="3429000"/>
          </a:xfrm>
          <a:prstGeom prst="rect">
            <a:avLst/>
          </a:prstGeom>
          <a:solidFill>
            <a:srgbClr val="F2F4F7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DCB055-886C-455E-AA8E-DD7FC81C27F4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429000" cy="6667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19CEA9-884C-4ACA-8E74-636BF5703533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Nhân viên / TTS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D4490F-4693-4A50-BB6D-A3B329DBDB2B}"/>
              </a:ext>
            </a:extLst>
          </p:cNvPr>
          <p:cNvSpPr>
            <a:spLocks noGrp="1"/>
          </p:cNvSpPr>
          <p:nvPr/>
        </p:nvSpPr>
        <p:spPr>
          <a:xfrm>
            <a:off x="628650" y="2476500"/>
            <a:ext cx="2971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75"/>
                </a:solidFill>
              </a:defRPr>
            </a:pPr>
            <a:r>
              <a:rPr sz="1200" b="0">
                <a:solidFill>
                  <a:srgbClr val="5E6675"/>
                </a:solidFill>
              </a:rPr>
              <a:t>Người dùng nghiệp vụ: thao tác trên dữ liệu cá nhân và công việc liên quan.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A76689-7D12-49E0-9483-6CD9E6B1F1FC}"/>
              </a:ext>
            </a:extLst>
          </p:cNvPr>
          <p:cNvSpPr>
            <a:spLocks noGrp="1"/>
          </p:cNvSpPr>
          <p:nvPr/>
        </p:nvSpPr>
        <p:spPr>
          <a:xfrm>
            <a:off x="628650" y="3124200"/>
            <a:ext cx="20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17A6FD-913D-4CE9-9CA9-1E30468C1F4A}"/>
              </a:ext>
            </a:extLst>
          </p:cNvPr>
          <p:cNvSpPr>
            <a:spLocks noGrp="1"/>
          </p:cNvSpPr>
          <p:nvPr/>
        </p:nvSpPr>
        <p:spPr>
          <a:xfrm>
            <a:off x="857250" y="312420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Chấm công, đăng ký ca / hình thức làm việc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70E179-D537-42FD-BECB-51FC05D2B208}"/>
              </a:ext>
            </a:extLst>
          </p:cNvPr>
          <p:cNvSpPr>
            <a:spLocks noGrp="1"/>
          </p:cNvSpPr>
          <p:nvPr/>
        </p:nvSpPr>
        <p:spPr>
          <a:xfrm>
            <a:off x="628650" y="3524250"/>
            <a:ext cx="20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01A9F1-7D10-472F-9067-DC4D9025CF07}"/>
              </a:ext>
            </a:extLst>
          </p:cNvPr>
          <p:cNvSpPr>
            <a:spLocks noGrp="1"/>
          </p:cNvSpPr>
          <p:nvPr/>
        </p:nvSpPr>
        <p:spPr>
          <a:xfrm>
            <a:off x="857250" y="352425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Tạo và theo dõi đơn nghỉ phép của bản thân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CDC530-4313-4F13-940A-DBE6FA92F580}"/>
              </a:ext>
            </a:extLst>
          </p:cNvPr>
          <p:cNvSpPr>
            <a:spLocks noGrp="1"/>
          </p:cNvSpPr>
          <p:nvPr/>
        </p:nvSpPr>
        <p:spPr>
          <a:xfrm>
            <a:off x="628650" y="3924300"/>
            <a:ext cx="20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C4C0FD-F8C4-447C-8F12-56DCFB5F4330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Xem / xác nhận phiếu lương của bản thân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2ABA2A-C92D-41FF-82A0-E7423674FD40}"/>
              </a:ext>
            </a:extLst>
          </p:cNvPr>
          <p:cNvSpPr>
            <a:spLocks noGrp="1"/>
          </p:cNvSpPr>
          <p:nvPr/>
        </p:nvSpPr>
        <p:spPr>
          <a:xfrm>
            <a:off x="628650" y="4324350"/>
            <a:ext cx="20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466DF8-33ED-42BA-B47F-ECEF1DE12AD6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 dirty="0" err="1">
                <a:solidFill>
                  <a:srgbClr val="0B1220"/>
                </a:solidFill>
              </a:rPr>
              <a:t>Xử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lý</a:t>
            </a:r>
            <a:r>
              <a:rPr sz="1275" b="0" dirty="0">
                <a:solidFill>
                  <a:srgbClr val="0B1220"/>
                </a:solidFill>
              </a:rPr>
              <a:t> task </a:t>
            </a:r>
            <a:r>
              <a:rPr sz="1275" b="0" dirty="0" err="1">
                <a:solidFill>
                  <a:srgbClr val="0B1220"/>
                </a:solidFill>
              </a:rPr>
              <a:t>được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giao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hoặc</a:t>
            </a:r>
            <a:r>
              <a:rPr sz="1275" b="0" dirty="0">
                <a:solidFill>
                  <a:srgbClr val="0B1220"/>
                </a:solidFill>
              </a:rPr>
              <a:t> do </a:t>
            </a:r>
            <a:r>
              <a:rPr sz="1275" b="0" dirty="0" err="1">
                <a:solidFill>
                  <a:srgbClr val="0B1220"/>
                </a:solidFill>
              </a:rPr>
              <a:t>mình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tạo</a:t>
            </a:r>
            <a:endParaRPr sz="1275" b="0" dirty="0">
              <a:solidFill>
                <a:srgbClr val="0B122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95E1AD-0506-4C49-B877-8B7594AB51B4}"/>
              </a:ext>
            </a:extLst>
          </p:cNvPr>
          <p:cNvSpPr>
            <a:spLocks noGrp="1"/>
          </p:cNvSpPr>
          <p:nvPr/>
        </p:nvSpPr>
        <p:spPr>
          <a:xfrm>
            <a:off x="628650" y="4724400"/>
            <a:ext cx="20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AE0C29-81A0-4760-A366-2B33370C7ADA}"/>
              </a:ext>
            </a:extLst>
          </p:cNvPr>
          <p:cNvSpPr>
            <a:spLocks noGrp="1"/>
          </p:cNvSpPr>
          <p:nvPr/>
        </p:nvSpPr>
        <p:spPr>
          <a:xfrm>
            <a:off x="857250" y="472440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 dirty="0">
                <a:solidFill>
                  <a:srgbClr val="0B1220"/>
                </a:solidFill>
              </a:rPr>
              <a:t>TTS </a:t>
            </a:r>
            <a:r>
              <a:rPr sz="1275" b="0" dirty="0" err="1">
                <a:solidFill>
                  <a:srgbClr val="0B1220"/>
                </a:solidFill>
              </a:rPr>
              <a:t>xác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nhận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hoặc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yêu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cầu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xem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lại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đánh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giá</a:t>
            </a:r>
            <a:endParaRPr sz="1275" b="0" dirty="0">
              <a:solidFill>
                <a:srgbClr val="0B122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C2C120-2070-4238-AF6E-CB4EA4A30832}"/>
              </a:ext>
            </a:extLst>
          </p:cNvPr>
          <p:cNvSpPr>
            <a:spLocks noGrp="1"/>
          </p:cNvSpPr>
          <p:nvPr/>
        </p:nvSpPr>
        <p:spPr>
          <a:xfrm>
            <a:off x="4381500" y="1809750"/>
            <a:ext cx="3429000" cy="3429000"/>
          </a:xfrm>
          <a:prstGeom prst="rect">
            <a:avLst/>
          </a:prstGeom>
          <a:solidFill>
            <a:srgbClr val="F2F4F7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5F3C4F-5E65-46E4-90A5-EC8CD09910B6}"/>
              </a:ext>
            </a:extLst>
          </p:cNvPr>
          <p:cNvSpPr>
            <a:spLocks noGrp="1"/>
          </p:cNvSpPr>
          <p:nvPr/>
        </p:nvSpPr>
        <p:spPr>
          <a:xfrm>
            <a:off x="4381500" y="1809750"/>
            <a:ext cx="3429000" cy="66675"/>
          </a:xfrm>
          <a:prstGeom prst="rect">
            <a:avLst/>
          </a:prstGeom>
          <a:solidFill>
            <a:srgbClr val="0F9F6E"/>
          </a:solidFill>
          <a:ln w="0">
            <a:solidFill>
              <a:srgbClr val="0F9F6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517338-025A-445C-AC1D-9E9401955627}"/>
              </a:ext>
            </a:extLst>
          </p:cNvPr>
          <p:cNvSpPr>
            <a:spLocks noGrp="1"/>
          </p:cNvSpPr>
          <p:nvPr/>
        </p:nvSpPr>
        <p:spPr>
          <a:xfrm>
            <a:off x="4610100" y="207645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Nhân sự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385FAB-856C-40AF-ADB0-D8BABA17FFAD}"/>
              </a:ext>
            </a:extLst>
          </p:cNvPr>
          <p:cNvSpPr>
            <a:spLocks noGrp="1"/>
          </p:cNvSpPr>
          <p:nvPr/>
        </p:nvSpPr>
        <p:spPr>
          <a:xfrm>
            <a:off x="4610100" y="2476500"/>
            <a:ext cx="2971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75"/>
                </a:solidFill>
              </a:defRPr>
            </a:pPr>
            <a:r>
              <a:rPr sz="1200" b="0">
                <a:solidFill>
                  <a:srgbClr val="5E6675"/>
                </a:solidFill>
              </a:rPr>
              <a:t>Vai trò vận hành: theo dõi, tổng hợp và xử lý nghiệp vụ HR cho nhân sự.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54A6AC-DCCD-4B02-928A-FF4B808D619E}"/>
              </a:ext>
            </a:extLst>
          </p:cNvPr>
          <p:cNvSpPr>
            <a:spLocks noGrp="1"/>
          </p:cNvSpPr>
          <p:nvPr/>
        </p:nvSpPr>
        <p:spPr>
          <a:xfrm>
            <a:off x="4610100" y="3124200"/>
            <a:ext cx="20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9F6E"/>
                </a:solidFill>
              </a:defRPr>
            </a:pPr>
            <a:r>
              <a:rPr sz="1275" b="1">
                <a:solidFill>
                  <a:srgbClr val="0F9F6E"/>
                </a:solidFill>
              </a:rPr>
              <a:t>•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EDB356-E8BE-4D5C-A1AF-2799A5E064D0}"/>
              </a:ext>
            </a:extLst>
          </p:cNvPr>
          <p:cNvSpPr>
            <a:spLocks noGrp="1"/>
          </p:cNvSpPr>
          <p:nvPr/>
        </p:nvSpPr>
        <p:spPr>
          <a:xfrm>
            <a:off x="4838700" y="312420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 dirty="0">
                <a:solidFill>
                  <a:srgbClr val="0B1220"/>
                </a:solidFill>
              </a:rPr>
              <a:t>Xem </a:t>
            </a:r>
            <a:r>
              <a:rPr sz="1275" b="0" dirty="0" err="1">
                <a:solidFill>
                  <a:srgbClr val="0B1220"/>
                </a:solidFill>
              </a:rPr>
              <a:t>danh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sách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nhân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viên</a:t>
            </a:r>
            <a:r>
              <a:rPr sz="1275" b="0" dirty="0">
                <a:solidFill>
                  <a:srgbClr val="0B1220"/>
                </a:solidFill>
              </a:rPr>
              <a:t>, </a:t>
            </a:r>
            <a:r>
              <a:rPr sz="1275" b="0" dirty="0" err="1">
                <a:solidFill>
                  <a:srgbClr val="0B1220"/>
                </a:solidFill>
              </a:rPr>
              <a:t>chấm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công</a:t>
            </a:r>
            <a:r>
              <a:rPr sz="1275" b="0" dirty="0">
                <a:solidFill>
                  <a:srgbClr val="0B1220"/>
                </a:solidFill>
              </a:rPr>
              <a:t>, </a:t>
            </a:r>
            <a:r>
              <a:rPr sz="1275" b="0" dirty="0" err="1">
                <a:solidFill>
                  <a:srgbClr val="0B1220"/>
                </a:solidFill>
              </a:rPr>
              <a:t>nghỉ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phép</a:t>
            </a:r>
            <a:endParaRPr sz="1275" b="0" dirty="0">
              <a:solidFill>
                <a:srgbClr val="0B122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C9E07C-CEC3-4CCC-BEC2-99433B5C9372}"/>
              </a:ext>
            </a:extLst>
          </p:cNvPr>
          <p:cNvSpPr>
            <a:spLocks noGrp="1"/>
          </p:cNvSpPr>
          <p:nvPr/>
        </p:nvSpPr>
        <p:spPr>
          <a:xfrm>
            <a:off x="4610100" y="3524250"/>
            <a:ext cx="20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9F6E"/>
                </a:solidFill>
              </a:defRPr>
            </a:pPr>
            <a:r>
              <a:rPr sz="1275" b="1">
                <a:solidFill>
                  <a:srgbClr val="0F9F6E"/>
                </a:solidFill>
              </a:rPr>
              <a:t>•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7CBB14-B750-490E-9817-AC97087FD277}"/>
              </a:ext>
            </a:extLst>
          </p:cNvPr>
          <p:cNvSpPr>
            <a:spLocks noGrp="1"/>
          </p:cNvSpPr>
          <p:nvPr/>
        </p:nvSpPr>
        <p:spPr>
          <a:xfrm>
            <a:off x="4838700" y="352425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 dirty="0" err="1">
                <a:solidFill>
                  <a:srgbClr val="0B1220"/>
                </a:solidFill>
              </a:rPr>
              <a:t>Tạo</a:t>
            </a:r>
            <a:r>
              <a:rPr sz="1275" b="0" dirty="0">
                <a:solidFill>
                  <a:srgbClr val="0B1220"/>
                </a:solidFill>
              </a:rPr>
              <a:t> / </a:t>
            </a:r>
            <a:r>
              <a:rPr sz="1275" b="0" dirty="0" err="1">
                <a:solidFill>
                  <a:srgbClr val="0B1220"/>
                </a:solidFill>
              </a:rPr>
              <a:t>xử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lý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phiếu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lương</a:t>
            </a:r>
            <a:r>
              <a:rPr sz="1275" b="0" dirty="0">
                <a:solidFill>
                  <a:srgbClr val="0B1220"/>
                </a:solidFill>
              </a:rPr>
              <a:t>, </a:t>
            </a:r>
            <a:r>
              <a:rPr sz="1275" b="0" dirty="0" err="1">
                <a:solidFill>
                  <a:srgbClr val="0B1220"/>
                </a:solidFill>
              </a:rPr>
              <a:t>yêu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cầu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xem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lại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lương</a:t>
            </a:r>
            <a:endParaRPr sz="1275" b="0" dirty="0">
              <a:solidFill>
                <a:srgbClr val="0B122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04F935-CA71-48B6-B43B-CA0C0132FEA2}"/>
              </a:ext>
            </a:extLst>
          </p:cNvPr>
          <p:cNvSpPr>
            <a:spLocks noGrp="1"/>
          </p:cNvSpPr>
          <p:nvPr/>
        </p:nvSpPr>
        <p:spPr>
          <a:xfrm>
            <a:off x="4610100" y="3924300"/>
            <a:ext cx="20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9F6E"/>
                </a:solidFill>
              </a:defRPr>
            </a:pPr>
            <a:r>
              <a:rPr sz="1275" b="1">
                <a:solidFill>
                  <a:srgbClr val="0F9F6E"/>
                </a:solidFill>
              </a:rPr>
              <a:t>•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43D138-CF12-431F-B42D-941D641C08A4}"/>
              </a:ext>
            </a:extLst>
          </p:cNvPr>
          <p:cNvSpPr>
            <a:spLocks noGrp="1"/>
          </p:cNvSpPr>
          <p:nvPr/>
        </p:nvSpPr>
        <p:spPr>
          <a:xfrm>
            <a:off x="4838700" y="392430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 dirty="0">
                <a:solidFill>
                  <a:srgbClr val="0B1220"/>
                </a:solidFill>
              </a:rPr>
              <a:t>Quản </a:t>
            </a:r>
            <a:r>
              <a:rPr sz="1275" b="0" dirty="0" err="1">
                <a:solidFill>
                  <a:srgbClr val="0B1220"/>
                </a:solidFill>
              </a:rPr>
              <a:t>lý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phòng</a:t>
            </a:r>
            <a:r>
              <a:rPr sz="1275" b="0" dirty="0">
                <a:solidFill>
                  <a:srgbClr val="0B1220"/>
                </a:solidFill>
              </a:rPr>
              <a:t> ban, </a:t>
            </a:r>
            <a:r>
              <a:rPr sz="1275" b="0" dirty="0" err="1">
                <a:solidFill>
                  <a:srgbClr val="0B1220"/>
                </a:solidFill>
              </a:rPr>
              <a:t>tuyển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dụng</a:t>
            </a:r>
            <a:r>
              <a:rPr sz="1275" b="0" dirty="0">
                <a:solidFill>
                  <a:srgbClr val="0B1220"/>
                </a:solidFill>
              </a:rPr>
              <a:t>, </a:t>
            </a:r>
            <a:r>
              <a:rPr sz="1275" b="0" dirty="0" err="1">
                <a:solidFill>
                  <a:srgbClr val="0B1220"/>
                </a:solidFill>
              </a:rPr>
              <a:t>chiến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dịch</a:t>
            </a:r>
            <a:r>
              <a:rPr sz="1275" b="0" dirty="0">
                <a:solidFill>
                  <a:srgbClr val="0B1220"/>
                </a:solidFill>
              </a:rPr>
              <a:t> MKT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E6715D-0292-4727-9EBB-8C0A4BADE62B}"/>
              </a:ext>
            </a:extLst>
          </p:cNvPr>
          <p:cNvSpPr>
            <a:spLocks noGrp="1"/>
          </p:cNvSpPr>
          <p:nvPr/>
        </p:nvSpPr>
        <p:spPr>
          <a:xfrm>
            <a:off x="4610100" y="4324350"/>
            <a:ext cx="20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9F6E"/>
                </a:solidFill>
              </a:defRPr>
            </a:pPr>
            <a:r>
              <a:rPr sz="1275" b="1">
                <a:solidFill>
                  <a:srgbClr val="0F9F6E"/>
                </a:solidFill>
              </a:rPr>
              <a:t>•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E51BF5-46C0-4E58-BB3B-4B274B799608}"/>
              </a:ext>
            </a:extLst>
          </p:cNvPr>
          <p:cNvSpPr>
            <a:spLocks noGrp="1"/>
          </p:cNvSpPr>
          <p:nvPr/>
        </p:nvSpPr>
        <p:spPr>
          <a:xfrm>
            <a:off x="4838700" y="432435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Quản lý tài sản trong phạm vi được phép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D1E7DA-6010-4BE0-A00C-991C55CA161D}"/>
              </a:ext>
            </a:extLst>
          </p:cNvPr>
          <p:cNvSpPr>
            <a:spLocks noGrp="1"/>
          </p:cNvSpPr>
          <p:nvPr/>
        </p:nvSpPr>
        <p:spPr>
          <a:xfrm>
            <a:off x="4610100" y="4724400"/>
            <a:ext cx="20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9F6E"/>
                </a:solidFill>
              </a:defRPr>
            </a:pPr>
            <a:r>
              <a:rPr sz="1275" b="1">
                <a:solidFill>
                  <a:srgbClr val="0F9F6E"/>
                </a:solidFill>
              </a:rPr>
              <a:t>•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AE060DA-FC90-452B-B31A-54263C6AB0A7}"/>
              </a:ext>
            </a:extLst>
          </p:cNvPr>
          <p:cNvSpPr>
            <a:spLocks noGrp="1"/>
          </p:cNvSpPr>
          <p:nvPr/>
        </p:nvSpPr>
        <p:spPr>
          <a:xfrm>
            <a:off x="4838700" y="472440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 dirty="0" err="1">
                <a:solidFill>
                  <a:srgbClr val="0B1220"/>
                </a:solidFill>
              </a:rPr>
              <a:t>Một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số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luồng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yêu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cầu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thuộc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Phòng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HCNS</a:t>
            </a:r>
            <a:endParaRPr sz="1275" b="0" dirty="0">
              <a:solidFill>
                <a:srgbClr val="0B122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A6C46E-D31B-44C5-872C-767711B41AEA}"/>
              </a:ext>
            </a:extLst>
          </p:cNvPr>
          <p:cNvSpPr>
            <a:spLocks noGrp="1"/>
          </p:cNvSpPr>
          <p:nvPr/>
        </p:nvSpPr>
        <p:spPr>
          <a:xfrm>
            <a:off x="8362950" y="1809750"/>
            <a:ext cx="3429000" cy="3429000"/>
          </a:xfrm>
          <a:prstGeom prst="rect">
            <a:avLst/>
          </a:prstGeom>
          <a:solidFill>
            <a:srgbClr val="F2F4F7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7BD1DE-0C6C-4D34-AF53-5DD46E04BEBC}"/>
              </a:ext>
            </a:extLst>
          </p:cNvPr>
          <p:cNvSpPr>
            <a:spLocks noGrp="1"/>
          </p:cNvSpPr>
          <p:nvPr/>
        </p:nvSpPr>
        <p:spPr>
          <a:xfrm>
            <a:off x="8362950" y="1809750"/>
            <a:ext cx="3429000" cy="66675"/>
          </a:xfrm>
          <a:prstGeom prst="rect">
            <a:avLst/>
          </a:prstGeom>
          <a:solidFill>
            <a:srgbClr val="C53030"/>
          </a:solidFill>
          <a:ln w="0">
            <a:solidFill>
              <a:srgbClr val="C53030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789BD7-E538-42E3-8ACC-598853560B52}"/>
              </a:ext>
            </a:extLst>
          </p:cNvPr>
          <p:cNvSpPr>
            <a:spLocks noGrp="1"/>
          </p:cNvSpPr>
          <p:nvPr/>
        </p:nvSpPr>
        <p:spPr>
          <a:xfrm>
            <a:off x="8591550" y="207645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1220"/>
                </a:solidFill>
              </a:defRPr>
            </a:pPr>
            <a:r>
              <a:rPr sz="1950" b="1" dirty="0">
                <a:solidFill>
                  <a:srgbClr val="0B1220"/>
                </a:solidFill>
              </a:rPr>
              <a:t>Admin</a:t>
            </a:r>
            <a:r>
              <a:rPr lang="en-US" sz="1950" b="1" dirty="0">
                <a:solidFill>
                  <a:srgbClr val="0B1220"/>
                </a:solidFill>
              </a:rPr>
              <a:t>(team IT)</a:t>
            </a:r>
            <a:r>
              <a:rPr sz="1950" b="1" dirty="0">
                <a:solidFill>
                  <a:srgbClr val="0B1220"/>
                </a:solidFill>
              </a:rPr>
              <a:t> /</a:t>
            </a:r>
            <a:r>
              <a:rPr lang="en-US" sz="1950" b="1">
                <a:solidFill>
                  <a:srgbClr val="0B1220"/>
                </a:solidFill>
              </a:rPr>
              <a:t>Sếp</a:t>
            </a:r>
            <a:endParaRPr sz="1950" b="1" dirty="0">
              <a:solidFill>
                <a:srgbClr val="0B122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2831407-076A-495C-BB50-F1108EF79EEB}"/>
              </a:ext>
            </a:extLst>
          </p:cNvPr>
          <p:cNvSpPr>
            <a:spLocks noGrp="1"/>
          </p:cNvSpPr>
          <p:nvPr/>
        </p:nvSpPr>
        <p:spPr>
          <a:xfrm>
            <a:off x="8591550" y="2476500"/>
            <a:ext cx="2971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75"/>
                </a:solidFill>
              </a:defRPr>
            </a:pPr>
            <a:r>
              <a:rPr sz="1200" b="0">
                <a:solidFill>
                  <a:srgbClr val="5E6675"/>
                </a:solidFill>
              </a:rPr>
              <a:t>Vai trò chủ hệ thống: bao phủ quyền Nhân sự và thêm lớp cấu hình / dữ liệu.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B96DC76-B205-43E8-9605-936EDAA5B194}"/>
              </a:ext>
            </a:extLst>
          </p:cNvPr>
          <p:cNvSpPr>
            <a:spLocks noGrp="1"/>
          </p:cNvSpPr>
          <p:nvPr/>
        </p:nvSpPr>
        <p:spPr>
          <a:xfrm>
            <a:off x="8591550" y="3124200"/>
            <a:ext cx="20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53030"/>
                </a:solidFill>
              </a:defRPr>
            </a:pPr>
            <a:r>
              <a:rPr sz="1275" b="1">
                <a:solidFill>
                  <a:srgbClr val="C53030"/>
                </a:solidFill>
              </a:rPr>
              <a:t>•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925B2D6-D712-479C-9F8B-BBA4360E3B08}"/>
              </a:ext>
            </a:extLst>
          </p:cNvPr>
          <p:cNvSpPr>
            <a:spLocks noGrp="1"/>
          </p:cNvSpPr>
          <p:nvPr/>
        </p:nvSpPr>
        <p:spPr>
          <a:xfrm>
            <a:off x="8820150" y="312420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Toàn quyền nghiệp vụ như Nhân sự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C566E03-2C92-4D89-8BC8-5958D072E718}"/>
              </a:ext>
            </a:extLst>
          </p:cNvPr>
          <p:cNvSpPr>
            <a:spLocks noGrp="1"/>
          </p:cNvSpPr>
          <p:nvPr/>
        </p:nvSpPr>
        <p:spPr>
          <a:xfrm>
            <a:off x="8591550" y="3524250"/>
            <a:ext cx="20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53030"/>
                </a:solidFill>
              </a:defRPr>
            </a:pPr>
            <a:r>
              <a:rPr sz="1275" b="1">
                <a:solidFill>
                  <a:srgbClr val="C53030"/>
                </a:solidFill>
              </a:rPr>
              <a:t>•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55E6941-B2A1-4447-93FA-D4028C2F22D6}"/>
              </a:ext>
            </a:extLst>
          </p:cNvPr>
          <p:cNvSpPr>
            <a:spLocks noGrp="1"/>
          </p:cNvSpPr>
          <p:nvPr/>
        </p:nvSpPr>
        <p:spPr>
          <a:xfrm>
            <a:off x="8820150" y="352425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Cấu hình công ty, WiFi whitelist, Database Admin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0E403B-8EF7-4F58-9182-E74AFF92F3E8}"/>
              </a:ext>
            </a:extLst>
          </p:cNvPr>
          <p:cNvSpPr>
            <a:spLocks noGrp="1"/>
          </p:cNvSpPr>
          <p:nvPr/>
        </p:nvSpPr>
        <p:spPr>
          <a:xfrm>
            <a:off x="8591550" y="3924300"/>
            <a:ext cx="20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53030"/>
                </a:solidFill>
              </a:defRPr>
            </a:pPr>
            <a:r>
              <a:rPr sz="1275" b="1">
                <a:solidFill>
                  <a:srgbClr val="C53030"/>
                </a:solidFill>
              </a:rPr>
              <a:t>•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26C6A0-4B99-462E-8AD1-AD04C0F57723}"/>
              </a:ext>
            </a:extLst>
          </p:cNvPr>
          <p:cNvSpPr>
            <a:spLocks noGrp="1"/>
          </p:cNvSpPr>
          <p:nvPr/>
        </p:nvSpPr>
        <p:spPr>
          <a:xfrm>
            <a:off x="8820150" y="392430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 dirty="0" err="1">
                <a:solidFill>
                  <a:srgbClr val="0B1220"/>
                </a:solidFill>
              </a:rPr>
              <a:t>Khóa</a:t>
            </a:r>
            <a:r>
              <a:rPr sz="1275" b="0" dirty="0">
                <a:solidFill>
                  <a:srgbClr val="0B1220"/>
                </a:solidFill>
              </a:rPr>
              <a:t> / </a:t>
            </a:r>
            <a:r>
              <a:rPr sz="1275" b="0" dirty="0" err="1">
                <a:solidFill>
                  <a:srgbClr val="0B1220"/>
                </a:solidFill>
              </a:rPr>
              <a:t>mở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khóa</a:t>
            </a:r>
            <a:r>
              <a:rPr sz="1275" b="0" dirty="0">
                <a:solidFill>
                  <a:srgbClr val="0B1220"/>
                </a:solidFill>
              </a:rPr>
              <a:t>, </a:t>
            </a:r>
            <a:r>
              <a:rPr sz="1275" b="0" dirty="0" err="1">
                <a:solidFill>
                  <a:srgbClr val="0B1220"/>
                </a:solidFill>
              </a:rPr>
              <a:t>sửa</a:t>
            </a:r>
            <a:r>
              <a:rPr sz="1275" b="0" dirty="0">
                <a:solidFill>
                  <a:srgbClr val="0B1220"/>
                </a:solidFill>
              </a:rPr>
              <a:t>, reset </a:t>
            </a:r>
            <a:r>
              <a:rPr sz="1275" b="0" dirty="0" err="1">
                <a:solidFill>
                  <a:srgbClr val="0B1220"/>
                </a:solidFill>
              </a:rPr>
              <a:t>mật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khẩu</a:t>
            </a:r>
            <a:r>
              <a:rPr sz="1275" b="0" dirty="0">
                <a:solidFill>
                  <a:srgbClr val="0B1220"/>
                </a:solidFill>
              </a:rPr>
              <a:t>, </a:t>
            </a:r>
            <a:r>
              <a:rPr sz="1275" b="0" dirty="0" err="1">
                <a:solidFill>
                  <a:srgbClr val="0B1220"/>
                </a:solidFill>
              </a:rPr>
              <a:t>xóa</a:t>
            </a:r>
            <a:r>
              <a:rPr sz="1275" b="0" dirty="0">
                <a:solidFill>
                  <a:srgbClr val="0B1220"/>
                </a:solidFill>
              </a:rPr>
              <a:t> user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06616A5-82B3-4F95-A42E-8FCC5F1A7B4F}"/>
              </a:ext>
            </a:extLst>
          </p:cNvPr>
          <p:cNvSpPr>
            <a:spLocks noGrp="1"/>
          </p:cNvSpPr>
          <p:nvPr/>
        </p:nvSpPr>
        <p:spPr>
          <a:xfrm>
            <a:off x="8591550" y="4324350"/>
            <a:ext cx="20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53030"/>
                </a:solidFill>
              </a:defRPr>
            </a:pPr>
            <a:r>
              <a:rPr sz="1275" b="1">
                <a:solidFill>
                  <a:srgbClr val="C53030"/>
                </a:solidFill>
              </a:rPr>
              <a:t>•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7BB4433-BAA0-4227-9211-75CAD88C2FD6}"/>
              </a:ext>
            </a:extLst>
          </p:cNvPr>
          <p:cNvSpPr>
            <a:spLocks noGrp="1"/>
          </p:cNvSpPr>
          <p:nvPr/>
        </p:nvSpPr>
        <p:spPr>
          <a:xfrm>
            <a:off x="8820150" y="432435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 dirty="0" err="1">
                <a:solidFill>
                  <a:srgbClr val="0B1220"/>
                </a:solidFill>
              </a:rPr>
              <a:t>Có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quyền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HCNS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và</a:t>
            </a:r>
            <a:r>
              <a:rPr sz="1275" b="0" dirty="0">
                <a:solidFill>
                  <a:srgbClr val="0B1220"/>
                </a:solidFill>
              </a:rPr>
              <a:t> Ban </a:t>
            </a:r>
            <a:r>
              <a:rPr sz="1275" b="0" dirty="0" err="1">
                <a:solidFill>
                  <a:srgbClr val="0B1220"/>
                </a:solidFill>
              </a:rPr>
              <a:t>Giám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Đốc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trong</a:t>
            </a:r>
            <a:r>
              <a:rPr sz="1275" b="0" dirty="0">
                <a:solidFill>
                  <a:srgbClr val="0B1220"/>
                </a:solidFill>
              </a:rPr>
              <a:t> workflow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E78AC0-FC95-475C-8A2B-AC099DAE57B1}"/>
              </a:ext>
            </a:extLst>
          </p:cNvPr>
          <p:cNvSpPr>
            <a:spLocks noGrp="1"/>
          </p:cNvSpPr>
          <p:nvPr/>
        </p:nvSpPr>
        <p:spPr>
          <a:xfrm>
            <a:off x="8591550" y="4724400"/>
            <a:ext cx="20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53030"/>
                </a:solidFill>
              </a:defRPr>
            </a:pPr>
            <a:r>
              <a:rPr sz="1275" b="1">
                <a:solidFill>
                  <a:srgbClr val="C53030"/>
                </a:solidFill>
              </a:rPr>
              <a:t>•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D76EF15-55D3-4DF3-A0D0-28A9C27E2CFF}"/>
              </a:ext>
            </a:extLst>
          </p:cNvPr>
          <p:cNvSpPr>
            <a:spLocks noGrp="1"/>
          </p:cNvSpPr>
          <p:nvPr/>
        </p:nvSpPr>
        <p:spPr>
          <a:xfrm>
            <a:off x="8820150" y="472440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 dirty="0">
                <a:solidFill>
                  <a:srgbClr val="0B1220"/>
                </a:solidFill>
              </a:rPr>
              <a:t>Xem </a:t>
            </a:r>
            <a:r>
              <a:rPr sz="1275" b="0" dirty="0" err="1">
                <a:solidFill>
                  <a:srgbClr val="0B1220"/>
                </a:solidFill>
              </a:rPr>
              <a:t>toàn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bộ</a:t>
            </a:r>
            <a:r>
              <a:rPr sz="1275" b="0" dirty="0">
                <a:solidFill>
                  <a:srgbClr val="0B1220"/>
                </a:solidFill>
              </a:rPr>
              <a:t> task </a:t>
            </a:r>
            <a:r>
              <a:rPr sz="1275" b="0" dirty="0" err="1">
                <a:solidFill>
                  <a:srgbClr val="0B1220"/>
                </a:solidFill>
              </a:rPr>
              <a:t>và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dữ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liệu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quản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trị</a:t>
            </a:r>
            <a:endParaRPr sz="1275" b="0" dirty="0">
              <a:solidFill>
                <a:srgbClr val="0B12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009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5">
            <a:extLst>
              <a:ext uri="{FF2B5EF4-FFF2-40B4-BE49-F238E27FC236}">
                <a16:creationId xmlns:a16="http://schemas.microsoft.com/office/drawing/2014/main" id="{520CBFAF-4C05-472F-8A40-7338A2F6777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675"/>
                </a:solidFill>
              </a:defRPr>
            </a:pPr>
            <a:r>
              <a:rPr sz="975" b="1">
                <a:solidFill>
                  <a:srgbClr val="5E6675"/>
                </a:solidFill>
              </a:rPr>
              <a:t>PERMISSION MATRIX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8E1B7C-3A2B-47D7-BBF2-D8A5E0595CB4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000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0B1220"/>
                </a:solidFill>
              </a:defRPr>
            </a:pPr>
            <a:r>
              <a:rPr sz="2775" b="1">
                <a:solidFill>
                  <a:srgbClr val="0B1220"/>
                </a:solidFill>
              </a:rPr>
              <a:t>Ma trận quyền theo module cho thấy Admin là lớp mở rộng của Nhân sự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350FF9-3F8A-4416-B26D-3CD8409E7183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E6675"/>
                </a:solidFill>
              </a:defRPr>
            </a:pPr>
            <a:r>
              <a:rPr sz="900" b="0">
                <a:solidFill>
                  <a:srgbClr val="5E6675"/>
                </a:solidFill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2B200B-1E55-4048-BACA-11BD5508FC75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11430"/>
          </a:xfrm>
          <a:prstGeom prst="rect">
            <a:avLst/>
          </a:prstGeom>
          <a:solidFill>
            <a:srgbClr val="C6CBD3"/>
          </a:solidFill>
          <a:ln w="0">
            <a:solidFill>
              <a:srgbClr val="C6CBD3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E08399-075D-4A42-B0A0-9E7F93B13450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10258425" cy="438150"/>
          </a:xfrm>
          <a:prstGeom prst="rect">
            <a:avLst/>
          </a:prstGeom>
          <a:solidFill>
            <a:srgbClr val="0B1220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3FC066-CF21-42F7-B7C1-736BBAAFBA2B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83F692-6118-4236-BB03-AE264C231799}"/>
              </a:ext>
            </a:extLst>
          </p:cNvPr>
          <p:cNvSpPr>
            <a:spLocks noGrp="1"/>
          </p:cNvSpPr>
          <p:nvPr/>
        </p:nvSpPr>
        <p:spPr>
          <a:xfrm>
            <a:off x="2800350" y="161925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93DA49-10A9-4FFF-B7DB-A4BD162A7865}"/>
              </a:ext>
            </a:extLst>
          </p:cNvPr>
          <p:cNvSpPr>
            <a:spLocks noGrp="1"/>
          </p:cNvSpPr>
          <p:nvPr/>
        </p:nvSpPr>
        <p:spPr>
          <a:xfrm>
            <a:off x="2895600" y="16954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Nhân viên / TTS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0E3A9B-B1FC-44E7-84A0-227959895267}"/>
              </a:ext>
            </a:extLst>
          </p:cNvPr>
          <p:cNvSpPr>
            <a:spLocks noGrp="1"/>
          </p:cNvSpPr>
          <p:nvPr/>
        </p:nvSpPr>
        <p:spPr>
          <a:xfrm>
            <a:off x="5419725" y="161925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4599F3-3E22-4CA6-93D1-26B0F856B5B8}"/>
              </a:ext>
            </a:extLst>
          </p:cNvPr>
          <p:cNvSpPr>
            <a:spLocks noGrp="1"/>
          </p:cNvSpPr>
          <p:nvPr/>
        </p:nvSpPr>
        <p:spPr>
          <a:xfrm>
            <a:off x="5514975" y="16954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Nhân sự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5B3A13-46D3-48A3-B127-BF1243D62485}"/>
              </a:ext>
            </a:extLst>
          </p:cNvPr>
          <p:cNvSpPr>
            <a:spLocks noGrp="1"/>
          </p:cNvSpPr>
          <p:nvPr/>
        </p:nvSpPr>
        <p:spPr>
          <a:xfrm>
            <a:off x="8039100" y="161925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FBF1BD-A318-4E81-A8F5-8EA8FC692495}"/>
              </a:ext>
            </a:extLst>
          </p:cNvPr>
          <p:cNvSpPr>
            <a:spLocks noGrp="1"/>
          </p:cNvSpPr>
          <p:nvPr/>
        </p:nvSpPr>
        <p:spPr>
          <a:xfrm>
            <a:off x="8134350" y="16954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Admin / Anh Hậu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9BD4F3-21B4-4711-BFCD-5FB5C5D8B7C6}"/>
              </a:ext>
            </a:extLst>
          </p:cNvPr>
          <p:cNvSpPr>
            <a:spLocks noGrp="1"/>
          </p:cNvSpPr>
          <p:nvPr/>
        </p:nvSpPr>
        <p:spPr>
          <a:xfrm>
            <a:off x="400050" y="2057400"/>
            <a:ext cx="1025842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BDCFB6-4AAF-4305-9F09-6BCEE002E5CD}"/>
              </a:ext>
            </a:extLst>
          </p:cNvPr>
          <p:cNvSpPr>
            <a:spLocks noGrp="1"/>
          </p:cNvSpPr>
          <p:nvPr/>
        </p:nvSpPr>
        <p:spPr>
          <a:xfrm>
            <a:off x="495300" y="21336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0B1220"/>
                </a:solidFill>
              </a:defRPr>
            </a:pPr>
            <a:r>
              <a:rPr sz="938" b="1">
                <a:solidFill>
                  <a:srgbClr val="0B1220"/>
                </a:solidFill>
              </a:rPr>
              <a:t>Dashboard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C8CE0F-DE5E-4254-9450-B17E00089470}"/>
              </a:ext>
            </a:extLst>
          </p:cNvPr>
          <p:cNvSpPr>
            <a:spLocks noGrp="1"/>
          </p:cNvSpPr>
          <p:nvPr/>
        </p:nvSpPr>
        <p:spPr>
          <a:xfrm>
            <a:off x="2800350" y="205740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6FA659-10B1-4654-AA65-9CC0B8CDDB9E}"/>
              </a:ext>
            </a:extLst>
          </p:cNvPr>
          <p:cNvSpPr>
            <a:spLocks noGrp="1"/>
          </p:cNvSpPr>
          <p:nvPr/>
        </p:nvSpPr>
        <p:spPr>
          <a:xfrm>
            <a:off x="2895600" y="213360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Xem dữ liệu cá nhân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2E06E3-AD4C-4117-8A57-BB8FB4F22199}"/>
              </a:ext>
            </a:extLst>
          </p:cNvPr>
          <p:cNvSpPr>
            <a:spLocks noGrp="1"/>
          </p:cNvSpPr>
          <p:nvPr/>
        </p:nvSpPr>
        <p:spPr>
          <a:xfrm>
            <a:off x="5419725" y="205740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C955AC-99D2-429C-BD43-F7B510C01918}"/>
              </a:ext>
            </a:extLst>
          </p:cNvPr>
          <p:cNvSpPr>
            <a:spLocks noGrp="1"/>
          </p:cNvSpPr>
          <p:nvPr/>
        </p:nvSpPr>
        <p:spPr>
          <a:xfrm>
            <a:off x="5514975" y="213360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Xem chỉ số đội / công 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B54C73-1125-4B68-ADC5-59EC8B92A93F}"/>
              </a:ext>
            </a:extLst>
          </p:cNvPr>
          <p:cNvSpPr>
            <a:spLocks noGrp="1"/>
          </p:cNvSpPr>
          <p:nvPr/>
        </p:nvSpPr>
        <p:spPr>
          <a:xfrm>
            <a:off x="8039100" y="205740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C2F075-FB92-477F-99E3-52639F248071}"/>
              </a:ext>
            </a:extLst>
          </p:cNvPr>
          <p:cNvSpPr>
            <a:spLocks noGrp="1"/>
          </p:cNvSpPr>
          <p:nvPr/>
        </p:nvSpPr>
        <p:spPr>
          <a:xfrm>
            <a:off x="8134350" y="213360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Xem toàn bộ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83271E-789E-41AD-97C3-4AB27F6981EC}"/>
              </a:ext>
            </a:extLst>
          </p:cNvPr>
          <p:cNvSpPr>
            <a:spLocks noGrp="1"/>
          </p:cNvSpPr>
          <p:nvPr/>
        </p:nvSpPr>
        <p:spPr>
          <a:xfrm>
            <a:off x="400050" y="2495550"/>
            <a:ext cx="10258425" cy="438150"/>
          </a:xfrm>
          <a:prstGeom prst="rect">
            <a:avLst/>
          </a:prstGeom>
          <a:solidFill>
            <a:srgbClr val="F8FAFC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B178B8-FE6C-49A5-ADB1-17E9CE4A8693}"/>
              </a:ext>
            </a:extLst>
          </p:cNvPr>
          <p:cNvSpPr>
            <a:spLocks noGrp="1"/>
          </p:cNvSpPr>
          <p:nvPr/>
        </p:nvSpPr>
        <p:spPr>
          <a:xfrm>
            <a:off x="495300" y="257175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0B1220"/>
                </a:solidFill>
              </a:defRPr>
            </a:pPr>
            <a:r>
              <a:rPr sz="938" b="1">
                <a:solidFill>
                  <a:srgbClr val="0B1220"/>
                </a:solidFill>
              </a:rPr>
              <a:t>Chấm công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693111-A5AB-4853-8F49-181B1E5CF98A}"/>
              </a:ext>
            </a:extLst>
          </p:cNvPr>
          <p:cNvSpPr>
            <a:spLocks noGrp="1"/>
          </p:cNvSpPr>
          <p:nvPr/>
        </p:nvSpPr>
        <p:spPr>
          <a:xfrm>
            <a:off x="2800350" y="249555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5C6FDD-51F4-456C-9A1A-CA82CC4F6D6F}"/>
              </a:ext>
            </a:extLst>
          </p:cNvPr>
          <p:cNvSpPr>
            <a:spLocks noGrp="1"/>
          </p:cNvSpPr>
          <p:nvPr/>
        </p:nvSpPr>
        <p:spPr>
          <a:xfrm>
            <a:off x="2895600" y="25717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Đăng ký, check-in/out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8368A2-19E7-4C56-B0C6-34C423FB2EF4}"/>
              </a:ext>
            </a:extLst>
          </p:cNvPr>
          <p:cNvSpPr>
            <a:spLocks noGrp="1"/>
          </p:cNvSpPr>
          <p:nvPr/>
        </p:nvSpPr>
        <p:spPr>
          <a:xfrm>
            <a:off x="5419725" y="249555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7F0A0B-85DB-48E1-9C85-230E165776C7}"/>
              </a:ext>
            </a:extLst>
          </p:cNvPr>
          <p:cNvSpPr>
            <a:spLocks noGrp="1"/>
          </p:cNvSpPr>
          <p:nvPr/>
        </p:nvSpPr>
        <p:spPr>
          <a:xfrm>
            <a:off x="5514975" y="25717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Xem / sửa dữ liệu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B2FF7B-6543-4375-B9DD-D18A86DBF871}"/>
              </a:ext>
            </a:extLst>
          </p:cNvPr>
          <p:cNvSpPr>
            <a:spLocks noGrp="1"/>
          </p:cNvSpPr>
          <p:nvPr/>
        </p:nvSpPr>
        <p:spPr>
          <a:xfrm>
            <a:off x="8039100" y="249555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36616A-FA4F-496F-B829-57D8E98438B4}"/>
              </a:ext>
            </a:extLst>
          </p:cNvPr>
          <p:cNvSpPr>
            <a:spLocks noGrp="1"/>
          </p:cNvSpPr>
          <p:nvPr/>
        </p:nvSpPr>
        <p:spPr>
          <a:xfrm>
            <a:off x="8134350" y="25717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Xem / sửa toàn bộ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763EA-3515-4A8E-9A47-30FBCFE21DCA}"/>
              </a:ext>
            </a:extLst>
          </p:cNvPr>
          <p:cNvSpPr>
            <a:spLocks noGrp="1"/>
          </p:cNvSpPr>
          <p:nvPr/>
        </p:nvSpPr>
        <p:spPr>
          <a:xfrm>
            <a:off x="400050" y="2933700"/>
            <a:ext cx="1025842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C973E2-4CF9-4D89-8EE7-DA4A78CC77AE}"/>
              </a:ext>
            </a:extLst>
          </p:cNvPr>
          <p:cNvSpPr>
            <a:spLocks noGrp="1"/>
          </p:cNvSpPr>
          <p:nvPr/>
        </p:nvSpPr>
        <p:spPr>
          <a:xfrm>
            <a:off x="495300" y="30099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0B1220"/>
                </a:solidFill>
              </a:defRPr>
            </a:pPr>
            <a:r>
              <a:rPr sz="938" b="1">
                <a:solidFill>
                  <a:srgbClr val="0B1220"/>
                </a:solidFill>
              </a:rPr>
              <a:t>Nghỉ phép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86C1AB-10C7-44FF-B47A-9D28AA86BAAA}"/>
              </a:ext>
            </a:extLst>
          </p:cNvPr>
          <p:cNvSpPr>
            <a:spLocks noGrp="1"/>
          </p:cNvSpPr>
          <p:nvPr/>
        </p:nvSpPr>
        <p:spPr>
          <a:xfrm>
            <a:off x="2800350" y="293370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A99009-CDE5-4B03-8B90-BDC0C0C63BA1}"/>
              </a:ext>
            </a:extLst>
          </p:cNvPr>
          <p:cNvSpPr>
            <a:spLocks noGrp="1"/>
          </p:cNvSpPr>
          <p:nvPr/>
        </p:nvSpPr>
        <p:spPr>
          <a:xfrm>
            <a:off x="2895600" y="300990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Tạo, xem đơn của mình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86E7CA-32CF-417B-925E-ADA86CDA5DE4}"/>
              </a:ext>
            </a:extLst>
          </p:cNvPr>
          <p:cNvSpPr>
            <a:spLocks noGrp="1"/>
          </p:cNvSpPr>
          <p:nvPr/>
        </p:nvSpPr>
        <p:spPr>
          <a:xfrm>
            <a:off x="5419725" y="293370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6892EE-F5F1-4B49-A553-CA704255B3EC}"/>
              </a:ext>
            </a:extLst>
          </p:cNvPr>
          <p:cNvSpPr>
            <a:spLocks noGrp="1"/>
          </p:cNvSpPr>
          <p:nvPr/>
        </p:nvSpPr>
        <p:spPr>
          <a:xfrm>
            <a:off x="5514975" y="300990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Duyệt / cập nhật đơn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129A3D3-4644-4449-A1ED-73F198E011C2}"/>
              </a:ext>
            </a:extLst>
          </p:cNvPr>
          <p:cNvSpPr>
            <a:spLocks noGrp="1"/>
          </p:cNvSpPr>
          <p:nvPr/>
        </p:nvSpPr>
        <p:spPr>
          <a:xfrm>
            <a:off x="8039100" y="293370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76597C-FFA7-4301-9C82-342784B3B782}"/>
              </a:ext>
            </a:extLst>
          </p:cNvPr>
          <p:cNvSpPr>
            <a:spLocks noGrp="1"/>
          </p:cNvSpPr>
          <p:nvPr/>
        </p:nvSpPr>
        <p:spPr>
          <a:xfrm>
            <a:off x="8134350" y="300990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Duyệt + cấu hình loại nghỉ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4AB9619-AE69-45FD-83D7-FC01A08D55BD}"/>
              </a:ext>
            </a:extLst>
          </p:cNvPr>
          <p:cNvSpPr>
            <a:spLocks noGrp="1"/>
          </p:cNvSpPr>
          <p:nvPr/>
        </p:nvSpPr>
        <p:spPr>
          <a:xfrm>
            <a:off x="400050" y="3371850"/>
            <a:ext cx="10258425" cy="438150"/>
          </a:xfrm>
          <a:prstGeom prst="rect">
            <a:avLst/>
          </a:prstGeom>
          <a:solidFill>
            <a:srgbClr val="F8FAFC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A0B6B39-0209-4F51-84F5-52FDEC559D03}"/>
              </a:ext>
            </a:extLst>
          </p:cNvPr>
          <p:cNvSpPr>
            <a:spLocks noGrp="1"/>
          </p:cNvSpPr>
          <p:nvPr/>
        </p:nvSpPr>
        <p:spPr>
          <a:xfrm>
            <a:off x="495300" y="344805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0B1220"/>
                </a:solidFill>
              </a:defRPr>
            </a:pPr>
            <a:r>
              <a:rPr sz="938" b="1">
                <a:solidFill>
                  <a:srgbClr val="0B1220"/>
                </a:solidFill>
              </a:rPr>
              <a:t>Công việc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7A0B4B6-2ED0-4AE3-AA06-83776F22B778}"/>
              </a:ext>
            </a:extLst>
          </p:cNvPr>
          <p:cNvSpPr>
            <a:spLocks noGrp="1"/>
          </p:cNvSpPr>
          <p:nvPr/>
        </p:nvSpPr>
        <p:spPr>
          <a:xfrm>
            <a:off x="2800350" y="337185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0724992-120E-4FA2-8B06-6E880331585C}"/>
              </a:ext>
            </a:extLst>
          </p:cNvPr>
          <p:cNvSpPr>
            <a:spLocks noGrp="1"/>
          </p:cNvSpPr>
          <p:nvPr/>
        </p:nvSpPr>
        <p:spPr>
          <a:xfrm>
            <a:off x="2895600" y="34480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Task liên quan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F7AC80B-B57C-4F82-BD27-C93036EE6D6A}"/>
              </a:ext>
            </a:extLst>
          </p:cNvPr>
          <p:cNvSpPr>
            <a:spLocks noGrp="1"/>
          </p:cNvSpPr>
          <p:nvPr/>
        </p:nvSpPr>
        <p:spPr>
          <a:xfrm>
            <a:off x="5419725" y="337185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0B9E17E-2BFE-43BF-8622-D85F39620D22}"/>
              </a:ext>
            </a:extLst>
          </p:cNvPr>
          <p:cNvSpPr>
            <a:spLocks noGrp="1"/>
          </p:cNvSpPr>
          <p:nvPr/>
        </p:nvSpPr>
        <p:spPr>
          <a:xfrm>
            <a:off x="5514975" y="34480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Quản lý nếu HCNS / liên quan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4FC7D51-6059-482A-B1EB-B097945E2764}"/>
              </a:ext>
            </a:extLst>
          </p:cNvPr>
          <p:cNvSpPr>
            <a:spLocks noGrp="1"/>
          </p:cNvSpPr>
          <p:nvPr/>
        </p:nvSpPr>
        <p:spPr>
          <a:xfrm>
            <a:off x="8039100" y="337185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48C000-0F86-4EFA-B1FE-0A759527C4C2}"/>
              </a:ext>
            </a:extLst>
          </p:cNvPr>
          <p:cNvSpPr>
            <a:spLocks noGrp="1"/>
          </p:cNvSpPr>
          <p:nvPr/>
        </p:nvSpPr>
        <p:spPr>
          <a:xfrm>
            <a:off x="8134350" y="34480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Xem toàn bộ, quản trị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B864E15-DADB-46CD-A241-5B88B8B4F275}"/>
              </a:ext>
            </a:extLst>
          </p:cNvPr>
          <p:cNvSpPr>
            <a:spLocks noGrp="1"/>
          </p:cNvSpPr>
          <p:nvPr/>
        </p:nvSpPr>
        <p:spPr>
          <a:xfrm>
            <a:off x="400050" y="3810000"/>
            <a:ext cx="1025842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F530913-74E1-48A7-A2E6-B627D16F29DD}"/>
              </a:ext>
            </a:extLst>
          </p:cNvPr>
          <p:cNvSpPr>
            <a:spLocks noGrp="1"/>
          </p:cNvSpPr>
          <p:nvPr/>
        </p:nvSpPr>
        <p:spPr>
          <a:xfrm>
            <a:off x="495300" y="38862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0B1220"/>
                </a:solidFill>
              </a:defRPr>
            </a:pPr>
            <a:r>
              <a:rPr sz="938" b="1">
                <a:solidFill>
                  <a:srgbClr val="0B1220"/>
                </a:solidFill>
              </a:rPr>
              <a:t>Tài sản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03DDB2-2978-4064-BFAB-93A93A7A5366}"/>
              </a:ext>
            </a:extLst>
          </p:cNvPr>
          <p:cNvSpPr>
            <a:spLocks noGrp="1"/>
          </p:cNvSpPr>
          <p:nvPr/>
        </p:nvSpPr>
        <p:spPr>
          <a:xfrm>
            <a:off x="2800350" y="381000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41890BB-E40D-4634-B498-A272AA1E2799}"/>
              </a:ext>
            </a:extLst>
          </p:cNvPr>
          <p:cNvSpPr>
            <a:spLocks noGrp="1"/>
          </p:cNvSpPr>
          <p:nvPr/>
        </p:nvSpPr>
        <p:spPr>
          <a:xfrm>
            <a:off x="2895600" y="388620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Khai báo / xem của mình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21E0E4B-CBFA-4CC5-AC88-B5D4C8288D4E}"/>
              </a:ext>
            </a:extLst>
          </p:cNvPr>
          <p:cNvSpPr>
            <a:spLocks noGrp="1"/>
          </p:cNvSpPr>
          <p:nvPr/>
        </p:nvSpPr>
        <p:spPr>
          <a:xfrm>
            <a:off x="5419725" y="381000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7C9EAF9-2ADC-42D0-8082-865AEB243347}"/>
              </a:ext>
            </a:extLst>
          </p:cNvPr>
          <p:cNvSpPr>
            <a:spLocks noGrp="1"/>
          </p:cNvSpPr>
          <p:nvPr/>
        </p:nvSpPr>
        <p:spPr>
          <a:xfrm>
            <a:off x="5514975" y="388620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Theo dõi phòng ban / HCNS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5A28AAA-244B-4833-995B-929D71DAB767}"/>
              </a:ext>
            </a:extLst>
          </p:cNvPr>
          <p:cNvSpPr>
            <a:spLocks noGrp="1"/>
          </p:cNvSpPr>
          <p:nvPr/>
        </p:nvSpPr>
        <p:spPr>
          <a:xfrm>
            <a:off x="8039100" y="381000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CB96047-7062-4B47-ADE8-F7869E45AABF}"/>
              </a:ext>
            </a:extLst>
          </p:cNvPr>
          <p:cNvSpPr>
            <a:spLocks noGrp="1"/>
          </p:cNvSpPr>
          <p:nvPr/>
        </p:nvSpPr>
        <p:spPr>
          <a:xfrm>
            <a:off x="8134350" y="388620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Toàn quyền + audit credential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6EA1852-2C62-40BF-901F-9EE3283E9E16}"/>
              </a:ext>
            </a:extLst>
          </p:cNvPr>
          <p:cNvSpPr>
            <a:spLocks noGrp="1"/>
          </p:cNvSpPr>
          <p:nvPr/>
        </p:nvSpPr>
        <p:spPr>
          <a:xfrm>
            <a:off x="400050" y="4248150"/>
            <a:ext cx="10258425" cy="438150"/>
          </a:xfrm>
          <a:prstGeom prst="rect">
            <a:avLst/>
          </a:prstGeom>
          <a:solidFill>
            <a:srgbClr val="F8FAFC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9095833-7463-4444-827F-78374C437485}"/>
              </a:ext>
            </a:extLst>
          </p:cNvPr>
          <p:cNvSpPr>
            <a:spLocks noGrp="1"/>
          </p:cNvSpPr>
          <p:nvPr/>
        </p:nvSpPr>
        <p:spPr>
          <a:xfrm>
            <a:off x="495300" y="432435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0B1220"/>
                </a:solidFill>
              </a:defRPr>
            </a:pPr>
            <a:r>
              <a:rPr sz="938" b="1">
                <a:solidFill>
                  <a:srgbClr val="0B1220"/>
                </a:solidFill>
              </a:rPr>
              <a:t>Phiếu lương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A1BE03-86B4-4853-BC8C-E9DFFD139426}"/>
              </a:ext>
            </a:extLst>
          </p:cNvPr>
          <p:cNvSpPr>
            <a:spLocks noGrp="1"/>
          </p:cNvSpPr>
          <p:nvPr/>
        </p:nvSpPr>
        <p:spPr>
          <a:xfrm>
            <a:off x="2800350" y="424815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846947A-A990-4E54-8664-F8ECD5EBF8BD}"/>
              </a:ext>
            </a:extLst>
          </p:cNvPr>
          <p:cNvSpPr>
            <a:spLocks noGrp="1"/>
          </p:cNvSpPr>
          <p:nvPr/>
        </p:nvSpPr>
        <p:spPr>
          <a:xfrm>
            <a:off x="2895600" y="43243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Xem, xác nhận, yêu cầu xem lại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1E012B2-5822-422B-805D-97482CFFE5AB}"/>
              </a:ext>
            </a:extLst>
          </p:cNvPr>
          <p:cNvSpPr>
            <a:spLocks noGrp="1"/>
          </p:cNvSpPr>
          <p:nvPr/>
        </p:nvSpPr>
        <p:spPr>
          <a:xfrm>
            <a:off x="5419725" y="424815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B7C2032-7C02-4B20-BFAC-11DD6E2AAC03}"/>
              </a:ext>
            </a:extLst>
          </p:cNvPr>
          <p:cNvSpPr>
            <a:spLocks noGrp="1"/>
          </p:cNvSpPr>
          <p:nvPr/>
        </p:nvSpPr>
        <p:spPr>
          <a:xfrm>
            <a:off x="5514975" y="43243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Tạo, sửa, xử lý review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F9D86A9-2E6E-44B5-AAED-28BA7055F81C}"/>
              </a:ext>
            </a:extLst>
          </p:cNvPr>
          <p:cNvSpPr>
            <a:spLocks noGrp="1"/>
          </p:cNvSpPr>
          <p:nvPr/>
        </p:nvSpPr>
        <p:spPr>
          <a:xfrm>
            <a:off x="8039100" y="424815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621CA0-DFF1-4CB3-8665-74D62286C25C}"/>
              </a:ext>
            </a:extLst>
          </p:cNvPr>
          <p:cNvSpPr>
            <a:spLocks noGrp="1"/>
          </p:cNvSpPr>
          <p:nvPr/>
        </p:nvSpPr>
        <p:spPr>
          <a:xfrm>
            <a:off x="8134350" y="43243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Toàn quyền + khóa dữ liệu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B3A7103-6FA2-4527-B779-402C482BFF9F}"/>
              </a:ext>
            </a:extLst>
          </p:cNvPr>
          <p:cNvSpPr>
            <a:spLocks noGrp="1"/>
          </p:cNvSpPr>
          <p:nvPr/>
        </p:nvSpPr>
        <p:spPr>
          <a:xfrm>
            <a:off x="400050" y="4686300"/>
            <a:ext cx="1025842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6BBEBD7-EC9D-46E5-93B4-3423967EB5A4}"/>
              </a:ext>
            </a:extLst>
          </p:cNvPr>
          <p:cNvSpPr>
            <a:spLocks noGrp="1"/>
          </p:cNvSpPr>
          <p:nvPr/>
        </p:nvSpPr>
        <p:spPr>
          <a:xfrm>
            <a:off x="495300" y="47625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0B1220"/>
                </a:solidFill>
              </a:defRPr>
            </a:pPr>
            <a:r>
              <a:rPr sz="938" b="1">
                <a:solidFill>
                  <a:srgbClr val="0B1220"/>
                </a:solidFill>
              </a:rPr>
              <a:t>Nhân viên / phòng ban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F2EC291-D3A7-4C2C-90D0-BF6D8E0C785B}"/>
              </a:ext>
            </a:extLst>
          </p:cNvPr>
          <p:cNvSpPr>
            <a:spLocks noGrp="1"/>
          </p:cNvSpPr>
          <p:nvPr/>
        </p:nvSpPr>
        <p:spPr>
          <a:xfrm>
            <a:off x="2800350" y="468630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4F76528-48A9-4824-8D15-F10B566A450E}"/>
              </a:ext>
            </a:extLst>
          </p:cNvPr>
          <p:cNvSpPr>
            <a:spLocks noGrp="1"/>
          </p:cNvSpPr>
          <p:nvPr/>
        </p:nvSpPr>
        <p:spPr>
          <a:xfrm>
            <a:off x="2895600" y="476250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Không truy cập quản trị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A777B3D-BE38-4C8A-B1AE-3335F00AD509}"/>
              </a:ext>
            </a:extLst>
          </p:cNvPr>
          <p:cNvSpPr>
            <a:spLocks noGrp="1"/>
          </p:cNvSpPr>
          <p:nvPr/>
        </p:nvSpPr>
        <p:spPr>
          <a:xfrm>
            <a:off x="5419725" y="468630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A7DAC5A-D476-437B-B620-A4DB3364B90E}"/>
              </a:ext>
            </a:extLst>
          </p:cNvPr>
          <p:cNvSpPr>
            <a:spLocks noGrp="1"/>
          </p:cNvSpPr>
          <p:nvPr/>
        </p:nvSpPr>
        <p:spPr>
          <a:xfrm>
            <a:off x="5514975" y="476250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Xem / vận hành HR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093891C-9E91-49D0-A8E6-3FE2E0C985F8}"/>
              </a:ext>
            </a:extLst>
          </p:cNvPr>
          <p:cNvSpPr>
            <a:spLocks noGrp="1"/>
          </p:cNvSpPr>
          <p:nvPr/>
        </p:nvSpPr>
        <p:spPr>
          <a:xfrm>
            <a:off x="8039100" y="468630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D851A8-3195-41C1-BDE8-5574D6A37847}"/>
              </a:ext>
            </a:extLst>
          </p:cNvPr>
          <p:cNvSpPr>
            <a:spLocks noGrp="1"/>
          </p:cNvSpPr>
          <p:nvPr/>
        </p:nvSpPr>
        <p:spPr>
          <a:xfrm>
            <a:off x="8134350" y="476250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Sửa user, khóa, reset, xóa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21E8766-6294-4B0C-AC51-CDC297B1C040}"/>
              </a:ext>
            </a:extLst>
          </p:cNvPr>
          <p:cNvSpPr>
            <a:spLocks noGrp="1"/>
          </p:cNvSpPr>
          <p:nvPr/>
        </p:nvSpPr>
        <p:spPr>
          <a:xfrm>
            <a:off x="400050" y="5124450"/>
            <a:ext cx="10258425" cy="438150"/>
          </a:xfrm>
          <a:prstGeom prst="rect">
            <a:avLst/>
          </a:prstGeom>
          <a:solidFill>
            <a:srgbClr val="F8FAFC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E91BE69-E214-46EB-9F58-1FA0C02F5E35}"/>
              </a:ext>
            </a:extLst>
          </p:cNvPr>
          <p:cNvSpPr>
            <a:spLocks noGrp="1"/>
          </p:cNvSpPr>
          <p:nvPr/>
        </p:nvSpPr>
        <p:spPr>
          <a:xfrm>
            <a:off x="495300" y="520065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0B1220"/>
                </a:solidFill>
              </a:defRPr>
            </a:pPr>
            <a:r>
              <a:rPr sz="938" b="1">
                <a:solidFill>
                  <a:srgbClr val="0B1220"/>
                </a:solidFill>
              </a:rPr>
              <a:t>Đánh giá hiệu suất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8435539-776D-479F-B2F5-328F0086945C}"/>
              </a:ext>
            </a:extLst>
          </p:cNvPr>
          <p:cNvSpPr>
            <a:spLocks noGrp="1"/>
          </p:cNvSpPr>
          <p:nvPr/>
        </p:nvSpPr>
        <p:spPr>
          <a:xfrm>
            <a:off x="2800350" y="512445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8B32C6F-76A6-477F-869C-9E1BCAAC0340}"/>
              </a:ext>
            </a:extLst>
          </p:cNvPr>
          <p:cNvSpPr>
            <a:spLocks noGrp="1"/>
          </p:cNvSpPr>
          <p:nvPr/>
        </p:nvSpPr>
        <p:spPr>
          <a:xfrm>
            <a:off x="2895600" y="52006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TTS xác nhận / phản hồi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B6A3B1A-823C-4A83-BD0E-CD3246B29B8A}"/>
              </a:ext>
            </a:extLst>
          </p:cNvPr>
          <p:cNvSpPr>
            <a:spLocks noGrp="1"/>
          </p:cNvSpPr>
          <p:nvPr/>
        </p:nvSpPr>
        <p:spPr>
          <a:xfrm>
            <a:off x="5419725" y="512445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F69363B-DA53-4254-8D41-06BB4549BEA4}"/>
              </a:ext>
            </a:extLst>
          </p:cNvPr>
          <p:cNvSpPr>
            <a:spLocks noGrp="1"/>
          </p:cNvSpPr>
          <p:nvPr/>
        </p:nvSpPr>
        <p:spPr>
          <a:xfrm>
            <a:off x="5514975" y="52006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HCNS phân công, nhận, khóa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87E73A8-5903-46D7-BFC2-280C99CFD8C1}"/>
              </a:ext>
            </a:extLst>
          </p:cNvPr>
          <p:cNvSpPr>
            <a:spLocks noGrp="1"/>
          </p:cNvSpPr>
          <p:nvPr/>
        </p:nvSpPr>
        <p:spPr>
          <a:xfrm>
            <a:off x="8039100" y="512445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0296CEA-B921-4D35-89F5-05AF34906002}"/>
              </a:ext>
            </a:extLst>
          </p:cNvPr>
          <p:cNvSpPr>
            <a:spLocks noGrp="1"/>
          </p:cNvSpPr>
          <p:nvPr/>
        </p:nvSpPr>
        <p:spPr>
          <a:xfrm>
            <a:off x="8134350" y="52006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 dirty="0" err="1">
                <a:solidFill>
                  <a:srgbClr val="0B1220"/>
                </a:solidFill>
              </a:rPr>
              <a:t>Phê</a:t>
            </a:r>
            <a:r>
              <a:rPr sz="938" b="0" dirty="0">
                <a:solidFill>
                  <a:srgbClr val="0B1220"/>
                </a:solidFill>
              </a:rPr>
              <a:t> </a:t>
            </a:r>
            <a:r>
              <a:rPr sz="938" b="0" dirty="0" err="1">
                <a:solidFill>
                  <a:srgbClr val="0B1220"/>
                </a:solidFill>
              </a:rPr>
              <a:t>duyệt</a:t>
            </a:r>
            <a:r>
              <a:rPr sz="938" b="0" dirty="0">
                <a:solidFill>
                  <a:srgbClr val="0B1220"/>
                </a:solidFill>
              </a:rPr>
              <a:t> </a:t>
            </a:r>
            <a:r>
              <a:rPr sz="938" b="0" dirty="0" err="1">
                <a:solidFill>
                  <a:srgbClr val="0B1220"/>
                </a:solidFill>
              </a:rPr>
              <a:t>như</a:t>
            </a:r>
            <a:r>
              <a:rPr sz="938" b="0" dirty="0">
                <a:solidFill>
                  <a:srgbClr val="0B1220"/>
                </a:solidFill>
              </a:rPr>
              <a:t> </a:t>
            </a:r>
            <a:r>
              <a:rPr sz="938" b="0" dirty="0" err="1">
                <a:solidFill>
                  <a:srgbClr val="0B1220"/>
                </a:solidFill>
              </a:rPr>
              <a:t>BGD</a:t>
            </a:r>
            <a:r>
              <a:rPr sz="938" b="0" dirty="0">
                <a:solidFill>
                  <a:srgbClr val="0B1220"/>
                </a:solidFill>
              </a:rPr>
              <a:t> + </a:t>
            </a:r>
            <a:r>
              <a:rPr sz="938" b="0" dirty="0" err="1">
                <a:solidFill>
                  <a:srgbClr val="0B1220"/>
                </a:solidFill>
              </a:rPr>
              <a:t>HCNS</a:t>
            </a:r>
            <a:endParaRPr sz="938" b="0" dirty="0">
              <a:solidFill>
                <a:srgbClr val="0B1220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861DBA0-693D-462A-91DA-C71AF69F05B1}"/>
              </a:ext>
            </a:extLst>
          </p:cNvPr>
          <p:cNvSpPr>
            <a:spLocks noGrp="1"/>
          </p:cNvSpPr>
          <p:nvPr/>
        </p:nvSpPr>
        <p:spPr>
          <a:xfrm>
            <a:off x="400050" y="5562600"/>
            <a:ext cx="1025842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65442F9-9A36-434B-9568-FD95D241C42C}"/>
              </a:ext>
            </a:extLst>
          </p:cNvPr>
          <p:cNvSpPr>
            <a:spLocks noGrp="1"/>
          </p:cNvSpPr>
          <p:nvPr/>
        </p:nvSpPr>
        <p:spPr>
          <a:xfrm>
            <a:off x="495300" y="56388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0B1220"/>
                </a:solidFill>
              </a:defRPr>
            </a:pPr>
            <a:r>
              <a:rPr sz="938" b="1">
                <a:solidFill>
                  <a:srgbClr val="0B1220"/>
                </a:solidFill>
              </a:rPr>
              <a:t>Hệ thống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2A3F6BD-0225-451F-AC6E-DCAB9679C99D}"/>
              </a:ext>
            </a:extLst>
          </p:cNvPr>
          <p:cNvSpPr>
            <a:spLocks noGrp="1"/>
          </p:cNvSpPr>
          <p:nvPr/>
        </p:nvSpPr>
        <p:spPr>
          <a:xfrm>
            <a:off x="2800350" y="556260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C56A399-5801-4D47-8027-093E8914B534}"/>
              </a:ext>
            </a:extLst>
          </p:cNvPr>
          <p:cNvSpPr>
            <a:spLocks noGrp="1"/>
          </p:cNvSpPr>
          <p:nvPr/>
        </p:nvSpPr>
        <p:spPr>
          <a:xfrm>
            <a:off x="2895600" y="563880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Không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B429C0E-8C58-4311-9FB3-A8AB93F30F9C}"/>
              </a:ext>
            </a:extLst>
          </p:cNvPr>
          <p:cNvSpPr>
            <a:spLocks noGrp="1"/>
          </p:cNvSpPr>
          <p:nvPr/>
        </p:nvSpPr>
        <p:spPr>
          <a:xfrm>
            <a:off x="5419725" y="556260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FD3F358-9E30-4200-888A-C790B8894FD5}"/>
              </a:ext>
            </a:extLst>
          </p:cNvPr>
          <p:cNvSpPr>
            <a:spLocks noGrp="1"/>
          </p:cNvSpPr>
          <p:nvPr/>
        </p:nvSpPr>
        <p:spPr>
          <a:xfrm>
            <a:off x="5514975" y="563880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>
                <a:solidFill>
                  <a:srgbClr val="0B1220"/>
                </a:solidFill>
              </a:rPr>
              <a:t>Không / hạn chế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8427C23-4D19-433E-B8A0-19D051FAD7CF}"/>
              </a:ext>
            </a:extLst>
          </p:cNvPr>
          <p:cNvSpPr>
            <a:spLocks noGrp="1"/>
          </p:cNvSpPr>
          <p:nvPr/>
        </p:nvSpPr>
        <p:spPr>
          <a:xfrm>
            <a:off x="8039100" y="5562600"/>
            <a:ext cx="438150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57CC63C-5FC8-4CE0-AF80-0A76F2140AFD}"/>
              </a:ext>
            </a:extLst>
          </p:cNvPr>
          <p:cNvSpPr>
            <a:spLocks noGrp="1"/>
          </p:cNvSpPr>
          <p:nvPr/>
        </p:nvSpPr>
        <p:spPr>
          <a:xfrm>
            <a:off x="8134350" y="563880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0B1220"/>
                </a:solidFill>
              </a:defRPr>
            </a:pPr>
            <a:r>
              <a:rPr sz="938" b="0" dirty="0">
                <a:solidFill>
                  <a:srgbClr val="0B1220"/>
                </a:solidFill>
              </a:rPr>
              <a:t>Settings, </a:t>
            </a:r>
            <a:r>
              <a:rPr sz="938" b="0" dirty="0" err="1">
                <a:solidFill>
                  <a:srgbClr val="0B1220"/>
                </a:solidFill>
              </a:rPr>
              <a:t>WiFi</a:t>
            </a:r>
            <a:r>
              <a:rPr sz="938" b="0" dirty="0">
                <a:solidFill>
                  <a:srgbClr val="0B1220"/>
                </a:solidFill>
              </a:rPr>
              <a:t>, DB Admin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2B89A7F-9C8C-46FE-B44A-00CDBEE03FF2}"/>
              </a:ext>
            </a:extLst>
          </p:cNvPr>
          <p:cNvSpPr>
            <a:spLocks noGrp="1"/>
          </p:cNvSpPr>
          <p:nvPr/>
        </p:nvSpPr>
        <p:spPr>
          <a:xfrm>
            <a:off x="400050" y="6115050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Ghi chú: trong code, role='manager' được dùng cho Nhân sự; một số quyền chuyên biệt vẫn kiểm theo department như Phòng HCNS hoặc Ban Giám Đốc.</a:t>
            </a:r>
          </a:p>
        </p:txBody>
      </p:sp>
    </p:spTree>
    <p:extLst>
      <p:ext uri="{BB962C8B-B14F-4D97-AF65-F5344CB8AC3E}">
        <p14:creationId xmlns:p14="http://schemas.microsoft.com/office/powerpoint/2010/main" val="1209092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2D06F09-1A8D-49E8-A6DF-F837781C63CC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675"/>
                </a:solidFill>
              </a:defRPr>
            </a:pPr>
            <a:r>
              <a:rPr sz="975" b="1">
                <a:solidFill>
                  <a:srgbClr val="5E6675"/>
                </a:solidFill>
              </a:rPr>
              <a:t>EMPLOYEE / INTERN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728DD0-21C5-47A7-B301-D65AEA25DD97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000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0B1220"/>
                </a:solidFill>
              </a:defRPr>
            </a:pPr>
            <a:r>
              <a:rPr sz="2775" b="1">
                <a:solidFill>
                  <a:srgbClr val="0B1220"/>
                </a:solidFill>
              </a:rPr>
              <a:t>Nhân viên và TTS chủ yếu thao tác trên phạm vi cá nhân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97E1B3-44C2-4E30-B0EC-F8B9BD0A8198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E6675"/>
                </a:solidFill>
              </a:defRPr>
            </a:pPr>
            <a:r>
              <a:rPr sz="900" b="0">
                <a:solidFill>
                  <a:srgbClr val="5E6675"/>
                </a:solidFill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85FAE1-7C39-4B5B-B90A-645457F5E2F1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11430"/>
          </a:xfrm>
          <a:prstGeom prst="rect">
            <a:avLst/>
          </a:prstGeom>
          <a:solidFill>
            <a:srgbClr val="C6CBD3"/>
          </a:solidFill>
          <a:ln w="0">
            <a:solidFill>
              <a:srgbClr val="C6CBD3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095537-C1FD-438E-BE72-C688B5601B06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Công việc chính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B77EE2-7E45-415B-9727-B30E06F32FF5}"/>
              </a:ext>
            </a:extLst>
          </p:cNvPr>
          <p:cNvSpPr>
            <a:spLocks noGrp="1"/>
          </p:cNvSpPr>
          <p:nvPr/>
        </p:nvSpPr>
        <p:spPr>
          <a:xfrm>
            <a:off x="400050" y="2133600"/>
            <a:ext cx="209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556482-C981-4630-8CBD-DCC034F93612}"/>
              </a:ext>
            </a:extLst>
          </p:cNvPr>
          <p:cNvSpPr>
            <a:spLocks noGrp="1"/>
          </p:cNvSpPr>
          <p:nvPr/>
        </p:nvSpPr>
        <p:spPr>
          <a:xfrm>
            <a:off x="628650" y="2133600"/>
            <a:ext cx="4724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Đăng ký hình thức làm việc và chấm công theo ngày.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998259-B5D6-4617-81BA-D48C061D4273}"/>
              </a:ext>
            </a:extLst>
          </p:cNvPr>
          <p:cNvSpPr>
            <a:spLocks noGrp="1"/>
          </p:cNvSpPr>
          <p:nvPr/>
        </p:nvSpPr>
        <p:spPr>
          <a:xfrm>
            <a:off x="400050" y="2571750"/>
            <a:ext cx="209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58B0D3-175B-4C18-9D0B-2869CC8E1065}"/>
              </a:ext>
            </a:extLst>
          </p:cNvPr>
          <p:cNvSpPr>
            <a:spLocks noGrp="1"/>
          </p:cNvSpPr>
          <p:nvPr/>
        </p:nvSpPr>
        <p:spPr>
          <a:xfrm>
            <a:off x="628650" y="2571750"/>
            <a:ext cx="4724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Gửi đơn nghỉ phép, chỉnh / xóa khi còn phù hợp với workflow.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B121A7-716C-4189-924F-A23ACAB7C4CD}"/>
              </a:ext>
            </a:extLst>
          </p:cNvPr>
          <p:cNvSpPr>
            <a:spLocks noGrp="1"/>
          </p:cNvSpPr>
          <p:nvPr/>
        </p:nvSpPr>
        <p:spPr>
          <a:xfrm>
            <a:off x="400050" y="3009900"/>
            <a:ext cx="209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E21798-5256-4614-A071-7A4279E7BB9B}"/>
              </a:ext>
            </a:extLst>
          </p:cNvPr>
          <p:cNvSpPr>
            <a:spLocks noGrp="1"/>
          </p:cNvSpPr>
          <p:nvPr/>
        </p:nvSpPr>
        <p:spPr>
          <a:xfrm>
            <a:off x="628650" y="3009900"/>
            <a:ext cx="4724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Tạo task, cập nhật task được giao hoặc do mình tạo.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630A41-91E0-41B0-ADA6-CBB4BC74666C}"/>
              </a:ext>
            </a:extLst>
          </p:cNvPr>
          <p:cNvSpPr>
            <a:spLocks noGrp="1"/>
          </p:cNvSpPr>
          <p:nvPr/>
        </p:nvSpPr>
        <p:spPr>
          <a:xfrm>
            <a:off x="400050" y="3448050"/>
            <a:ext cx="209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1565F9-DE6B-4405-91DF-9B7864B6D8D0}"/>
              </a:ext>
            </a:extLst>
          </p:cNvPr>
          <p:cNvSpPr>
            <a:spLocks noGrp="1"/>
          </p:cNvSpPr>
          <p:nvPr/>
        </p:nvSpPr>
        <p:spPr>
          <a:xfrm>
            <a:off x="628650" y="3448050"/>
            <a:ext cx="4724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Xem phiếu lương đã phát hành, xác nhận hoặc yêu cầu xem lại.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C35B07-FDE0-4D5E-B75E-570EB6EF9CF5}"/>
              </a:ext>
            </a:extLst>
          </p:cNvPr>
          <p:cNvSpPr>
            <a:spLocks noGrp="1"/>
          </p:cNvSpPr>
          <p:nvPr/>
        </p:nvSpPr>
        <p:spPr>
          <a:xfrm>
            <a:off x="400050" y="3886200"/>
            <a:ext cx="209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F83A09-7892-4473-8451-BCA75B52BEBA}"/>
              </a:ext>
            </a:extLst>
          </p:cNvPr>
          <p:cNvSpPr>
            <a:spLocks noGrp="1"/>
          </p:cNvSpPr>
          <p:nvPr/>
        </p:nvSpPr>
        <p:spPr>
          <a:xfrm>
            <a:off x="628650" y="3886200"/>
            <a:ext cx="4724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Khai báo tài sản của bản thân, xem credential nếu được phép.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5463A3-9FEE-43FA-A365-774AEDAE4F4E}"/>
              </a:ext>
            </a:extLst>
          </p:cNvPr>
          <p:cNvSpPr>
            <a:spLocks noGrp="1"/>
          </p:cNvSpPr>
          <p:nvPr/>
        </p:nvSpPr>
        <p:spPr>
          <a:xfrm>
            <a:off x="6191250" y="1695450"/>
            <a:ext cx="4953000" cy="302895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506947-F119-4F2B-AB3C-7F8734537B56}"/>
              </a:ext>
            </a:extLst>
          </p:cNvPr>
          <p:cNvSpPr>
            <a:spLocks noGrp="1"/>
          </p:cNvSpPr>
          <p:nvPr/>
        </p:nvSpPr>
        <p:spPr>
          <a:xfrm>
            <a:off x="6515100" y="2038350"/>
            <a:ext cx="1524000" cy="266700"/>
          </a:xfrm>
          <a:prstGeom prst="rect">
            <a:avLst/>
          </a:prstGeom>
          <a:solidFill>
            <a:srgbClr val="D8F0FC"/>
          </a:solidFill>
          <a:ln w="0">
            <a:solidFill>
              <a:srgbClr val="D8F0F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4BD2B7-7B69-4A10-A799-26BB863ABDFD}"/>
              </a:ext>
            </a:extLst>
          </p:cNvPr>
          <p:cNvSpPr>
            <a:spLocks noGrp="1"/>
          </p:cNvSpPr>
          <p:nvPr/>
        </p:nvSpPr>
        <p:spPr>
          <a:xfrm>
            <a:off x="6610350" y="209550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Điểm riêng của TTS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E68BBC-4970-40B9-A774-86B38BF4DDD5}"/>
              </a:ext>
            </a:extLst>
          </p:cNvPr>
          <p:cNvSpPr>
            <a:spLocks noGrp="1"/>
          </p:cNvSpPr>
          <p:nvPr/>
        </p:nvSpPr>
        <p:spPr>
          <a:xfrm>
            <a:off x="6515100" y="2514600"/>
            <a:ext cx="4095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Khi có phiếu đánh giá hiệu suất, TTS được xem kết quả, xác nhận hoặc yêu cầu xem xét lại trước khi chuyển lên phê duyệt.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EAF8D9-83FE-48CC-8C65-78AFE20C5D07}"/>
              </a:ext>
            </a:extLst>
          </p:cNvPr>
          <p:cNvSpPr>
            <a:spLocks noGrp="1"/>
          </p:cNvSpPr>
          <p:nvPr/>
        </p:nvSpPr>
        <p:spPr>
          <a:xfrm>
            <a:off x="6515100" y="400050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75"/>
                </a:solidFill>
              </a:defRPr>
            </a:pPr>
            <a:r>
              <a:rPr sz="1200" b="0">
                <a:solidFill>
                  <a:srgbClr val="5E6675"/>
                </a:solidFill>
              </a:rPr>
              <a:t>Không có quyền xem dữ liệu toàn công ty, chỉnh user, cấu hình hệ thống hoặc truy cập database admin.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A2A034-AD31-4EC5-BC84-2776CA3ABBFC}"/>
              </a:ext>
            </a:extLst>
          </p:cNvPr>
          <p:cNvSpPr>
            <a:spLocks noGrp="1"/>
          </p:cNvSpPr>
          <p:nvPr/>
        </p:nvSpPr>
        <p:spPr>
          <a:xfrm>
            <a:off x="400050" y="5676900"/>
            <a:ext cx="7239000" cy="1143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BDB385-8065-43EB-978C-68EF3A6AE20D}"/>
              </a:ext>
            </a:extLst>
          </p:cNvPr>
          <p:cNvSpPr>
            <a:spLocks noGrp="1"/>
          </p:cNvSpPr>
          <p:nvPr/>
        </p:nvSpPr>
        <p:spPr>
          <a:xfrm>
            <a:off x="400050" y="58674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675"/>
                </a:solidFill>
              </a:defRPr>
            </a:pPr>
            <a:r>
              <a:rPr sz="1350" b="0">
                <a:solidFill>
                  <a:srgbClr val="5E6675"/>
                </a:solidFill>
              </a:rPr>
              <a:t>Ý nghĩa vận hành: nhóm này cần UI đơn giản, tập trung vào tự phục vụ và minh bạch dữ liệu cá nhân.</a:t>
            </a:r>
          </a:p>
        </p:txBody>
      </p:sp>
    </p:spTree>
    <p:extLst>
      <p:ext uri="{BB962C8B-B14F-4D97-AF65-F5344CB8AC3E}">
        <p14:creationId xmlns:p14="http://schemas.microsoft.com/office/powerpoint/2010/main" val="1431268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FF49597-0EEA-4E69-9FBE-D3A1601B1E12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675"/>
                </a:solidFill>
              </a:defRPr>
            </a:pPr>
            <a:r>
              <a:rPr sz="975" b="1">
                <a:solidFill>
                  <a:srgbClr val="5E6675"/>
                </a:solidFill>
              </a:rPr>
              <a:t>HR OPERATIONS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3C5CB9-A496-4323-9B2B-74CCEA45B6E2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000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0B1220"/>
                </a:solidFill>
              </a:defRPr>
            </a:pPr>
            <a:r>
              <a:rPr sz="2775" b="1">
                <a:solidFill>
                  <a:srgbClr val="0B1220"/>
                </a:solidFill>
              </a:rPr>
              <a:t>Nhân sự là lớp vận hành nghiệp vụ, không phải chủ hệ thống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893D2D-B6C3-4F9F-A5A6-535340AFDA41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E6675"/>
                </a:solidFill>
              </a:defRPr>
            </a:pPr>
            <a:r>
              <a:rPr sz="900" b="0">
                <a:solidFill>
                  <a:srgbClr val="5E6675"/>
                </a:solidFill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09A0DF-CF7A-4F4E-B7E8-EEC6D1E8E88A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11430"/>
          </a:xfrm>
          <a:prstGeom prst="rect">
            <a:avLst/>
          </a:prstGeom>
          <a:solidFill>
            <a:srgbClr val="C6CBD3"/>
          </a:solidFill>
          <a:ln w="0">
            <a:solidFill>
              <a:srgbClr val="C6CBD3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2906D5-DABD-4153-B528-BBAE78CF1B46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7429500" cy="523875"/>
          </a:xfrm>
          <a:prstGeom prst="rect">
            <a:avLst/>
          </a:prstGeom>
          <a:solidFill>
            <a:srgbClr val="0B1220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9C4B44-02C1-4B92-AA5C-B4BDFF7D31A7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2190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Nhóm chức năng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9BCFCB-03D6-455F-A7EB-01227412A535}"/>
              </a:ext>
            </a:extLst>
          </p:cNvPr>
          <p:cNvSpPr>
            <a:spLocks noGrp="1"/>
          </p:cNvSpPr>
          <p:nvPr/>
        </p:nvSpPr>
        <p:spPr>
          <a:xfrm>
            <a:off x="2781300" y="1619250"/>
            <a:ext cx="523875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25A9CB-EB7E-42A4-A9CE-4527085CFBDF}"/>
              </a:ext>
            </a:extLst>
          </p:cNvPr>
          <p:cNvSpPr>
            <a:spLocks noGrp="1"/>
          </p:cNvSpPr>
          <p:nvPr/>
        </p:nvSpPr>
        <p:spPr>
          <a:xfrm>
            <a:off x="2876550" y="1695450"/>
            <a:ext cx="4857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Nhân sự có thể làm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D9ACF5-E5E1-446C-BD15-7C43E43B8C40}"/>
              </a:ext>
            </a:extLst>
          </p:cNvPr>
          <p:cNvSpPr>
            <a:spLocks noGrp="1"/>
          </p:cNvSpPr>
          <p:nvPr/>
        </p:nvSpPr>
        <p:spPr>
          <a:xfrm>
            <a:off x="400050" y="2143125"/>
            <a:ext cx="74295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51DE88-49B1-4284-B692-D5A2369B467C}"/>
              </a:ext>
            </a:extLst>
          </p:cNvPr>
          <p:cNvSpPr>
            <a:spLocks noGrp="1"/>
          </p:cNvSpPr>
          <p:nvPr/>
        </p:nvSpPr>
        <p:spPr>
          <a:xfrm>
            <a:off x="495300" y="2219325"/>
            <a:ext cx="2190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B1220"/>
                </a:solidFill>
              </a:defRPr>
            </a:pPr>
            <a:r>
              <a:rPr sz="1050" b="1">
                <a:solidFill>
                  <a:srgbClr val="0B1220"/>
                </a:solidFill>
              </a:rPr>
              <a:t>Chấm công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8A8A3E-9F1A-4A4B-BC3C-35C6E57EE357}"/>
              </a:ext>
            </a:extLst>
          </p:cNvPr>
          <p:cNvSpPr>
            <a:spLocks noGrp="1"/>
          </p:cNvSpPr>
          <p:nvPr/>
        </p:nvSpPr>
        <p:spPr>
          <a:xfrm>
            <a:off x="2781300" y="2143125"/>
            <a:ext cx="523875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439155-C2FD-40D9-810E-B45DA6BF8CC7}"/>
              </a:ext>
            </a:extLst>
          </p:cNvPr>
          <p:cNvSpPr>
            <a:spLocks noGrp="1"/>
          </p:cNvSpPr>
          <p:nvPr/>
        </p:nvSpPr>
        <p:spPr>
          <a:xfrm>
            <a:off x="2876550" y="2219325"/>
            <a:ext cx="4857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Xem tổng hợp, lọc theo phòng ban, sửa bản ghi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8750FD-154F-4B7E-A4F9-68C8DB7DF50D}"/>
              </a:ext>
            </a:extLst>
          </p:cNvPr>
          <p:cNvSpPr>
            <a:spLocks noGrp="1"/>
          </p:cNvSpPr>
          <p:nvPr/>
        </p:nvSpPr>
        <p:spPr>
          <a:xfrm>
            <a:off x="400050" y="2667000"/>
            <a:ext cx="7429500" cy="523875"/>
          </a:xfrm>
          <a:prstGeom prst="rect">
            <a:avLst/>
          </a:prstGeom>
          <a:solidFill>
            <a:srgbClr val="F8FAFC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C71F1-964C-4F10-AD64-73F16046ECE1}"/>
              </a:ext>
            </a:extLst>
          </p:cNvPr>
          <p:cNvSpPr>
            <a:spLocks noGrp="1"/>
          </p:cNvSpPr>
          <p:nvPr/>
        </p:nvSpPr>
        <p:spPr>
          <a:xfrm>
            <a:off x="495300" y="2743200"/>
            <a:ext cx="2190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B1220"/>
                </a:solidFill>
              </a:defRPr>
            </a:pPr>
            <a:r>
              <a:rPr sz="1050" b="1">
                <a:solidFill>
                  <a:srgbClr val="0B1220"/>
                </a:solidFill>
              </a:rPr>
              <a:t>Nghỉ phép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4CCD33-3C87-45E9-B8C2-B834BBD31D43}"/>
              </a:ext>
            </a:extLst>
          </p:cNvPr>
          <p:cNvSpPr>
            <a:spLocks noGrp="1"/>
          </p:cNvSpPr>
          <p:nvPr/>
        </p:nvSpPr>
        <p:spPr>
          <a:xfrm>
            <a:off x="2781300" y="2667000"/>
            <a:ext cx="523875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79FF3C-1A65-413A-B44F-5B5B9F13C1C3}"/>
              </a:ext>
            </a:extLst>
          </p:cNvPr>
          <p:cNvSpPr>
            <a:spLocks noGrp="1"/>
          </p:cNvSpPr>
          <p:nvPr/>
        </p:nvSpPr>
        <p:spPr>
          <a:xfrm>
            <a:off x="2876550" y="2743200"/>
            <a:ext cx="4857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Xem đơn toàn công ty, duyệt / từ chối đơn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B07721-E155-4591-9D65-5B9C4625E78A}"/>
              </a:ext>
            </a:extLst>
          </p:cNvPr>
          <p:cNvSpPr>
            <a:spLocks noGrp="1"/>
          </p:cNvSpPr>
          <p:nvPr/>
        </p:nvSpPr>
        <p:spPr>
          <a:xfrm>
            <a:off x="400050" y="3190875"/>
            <a:ext cx="74295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7393EB-35AE-46D2-A6D9-8E55E4A41AE9}"/>
              </a:ext>
            </a:extLst>
          </p:cNvPr>
          <p:cNvSpPr>
            <a:spLocks noGrp="1"/>
          </p:cNvSpPr>
          <p:nvPr/>
        </p:nvSpPr>
        <p:spPr>
          <a:xfrm>
            <a:off x="495300" y="3267075"/>
            <a:ext cx="2190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B1220"/>
                </a:solidFill>
              </a:defRPr>
            </a:pPr>
            <a:r>
              <a:rPr sz="1050" b="1">
                <a:solidFill>
                  <a:srgbClr val="0B1220"/>
                </a:solidFill>
              </a:rPr>
              <a:t>Lương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2C6217-BBB1-4299-80AF-141E1AE23ACD}"/>
              </a:ext>
            </a:extLst>
          </p:cNvPr>
          <p:cNvSpPr>
            <a:spLocks noGrp="1"/>
          </p:cNvSpPr>
          <p:nvPr/>
        </p:nvSpPr>
        <p:spPr>
          <a:xfrm>
            <a:off x="2781300" y="3190875"/>
            <a:ext cx="523875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7DFC65-D145-4088-B85D-D3D059BA2846}"/>
              </a:ext>
            </a:extLst>
          </p:cNvPr>
          <p:cNvSpPr>
            <a:spLocks noGrp="1"/>
          </p:cNvSpPr>
          <p:nvPr/>
        </p:nvSpPr>
        <p:spPr>
          <a:xfrm>
            <a:off x="2876550" y="3267075"/>
            <a:ext cx="4857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Tạo phiếu, xử lý review, xuất / khóa theo workflow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0CD13C-41C1-4305-8EC6-C6B7F5B047B6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7429500" cy="523875"/>
          </a:xfrm>
          <a:prstGeom prst="rect">
            <a:avLst/>
          </a:prstGeom>
          <a:solidFill>
            <a:srgbClr val="F8FAFC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F2E4A7-61E1-4550-8641-6DB6303F60E6}"/>
              </a:ext>
            </a:extLst>
          </p:cNvPr>
          <p:cNvSpPr>
            <a:spLocks noGrp="1"/>
          </p:cNvSpPr>
          <p:nvPr/>
        </p:nvSpPr>
        <p:spPr>
          <a:xfrm>
            <a:off x="495300" y="3790950"/>
            <a:ext cx="2190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B1220"/>
                </a:solidFill>
              </a:defRPr>
            </a:pPr>
            <a:r>
              <a:rPr sz="1050" b="1">
                <a:solidFill>
                  <a:srgbClr val="0B1220"/>
                </a:solidFill>
              </a:rPr>
              <a:t>Nhân sự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F4339B-3EEF-4A00-8049-6E0F21FC0F59}"/>
              </a:ext>
            </a:extLst>
          </p:cNvPr>
          <p:cNvSpPr>
            <a:spLocks noGrp="1"/>
          </p:cNvSpPr>
          <p:nvPr/>
        </p:nvSpPr>
        <p:spPr>
          <a:xfrm>
            <a:off x="2781300" y="3714750"/>
            <a:ext cx="523875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780AA8-13B9-401B-B56D-5BA51A386AA1}"/>
              </a:ext>
            </a:extLst>
          </p:cNvPr>
          <p:cNvSpPr>
            <a:spLocks noGrp="1"/>
          </p:cNvSpPr>
          <p:nvPr/>
        </p:nvSpPr>
        <p:spPr>
          <a:xfrm>
            <a:off x="2876550" y="3790950"/>
            <a:ext cx="4857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Xem danh sách user, vòng đời nhân sự nếu thuộc HCNS/BGD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26CCC6-FA08-485D-8313-2CDB2C88C2F7}"/>
              </a:ext>
            </a:extLst>
          </p:cNvPr>
          <p:cNvSpPr>
            <a:spLocks noGrp="1"/>
          </p:cNvSpPr>
          <p:nvPr/>
        </p:nvSpPr>
        <p:spPr>
          <a:xfrm>
            <a:off x="400050" y="4238625"/>
            <a:ext cx="74295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1D9DD2-1E94-421D-B6A6-CD52458F81A5}"/>
              </a:ext>
            </a:extLst>
          </p:cNvPr>
          <p:cNvSpPr>
            <a:spLocks noGrp="1"/>
          </p:cNvSpPr>
          <p:nvPr/>
        </p:nvSpPr>
        <p:spPr>
          <a:xfrm>
            <a:off x="495300" y="4314825"/>
            <a:ext cx="2190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B1220"/>
                </a:solidFill>
              </a:defRPr>
            </a:pPr>
            <a:r>
              <a:rPr sz="1050" b="1">
                <a:solidFill>
                  <a:srgbClr val="0B1220"/>
                </a:solidFill>
              </a:rPr>
              <a:t>Phòng ban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BFC4AA-9241-481B-8059-78C72CF896D1}"/>
              </a:ext>
            </a:extLst>
          </p:cNvPr>
          <p:cNvSpPr>
            <a:spLocks noGrp="1"/>
          </p:cNvSpPr>
          <p:nvPr/>
        </p:nvSpPr>
        <p:spPr>
          <a:xfrm>
            <a:off x="2781300" y="4238625"/>
            <a:ext cx="523875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01F375-18A1-42D6-BD98-233A4E82E81D}"/>
              </a:ext>
            </a:extLst>
          </p:cNvPr>
          <p:cNvSpPr>
            <a:spLocks noGrp="1"/>
          </p:cNvSpPr>
          <p:nvPr/>
        </p:nvSpPr>
        <p:spPr>
          <a:xfrm>
            <a:off x="2876550" y="4314825"/>
            <a:ext cx="4857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Tạo, sửa, xóa phòng ban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80CF26-1A3F-4FFF-B191-6B61E238A99F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7429500" cy="523875"/>
          </a:xfrm>
          <a:prstGeom prst="rect">
            <a:avLst/>
          </a:prstGeom>
          <a:solidFill>
            <a:srgbClr val="F8FAFC"/>
          </a:solidFill>
          <a:ln w="9525">
            <a:solidFill>
              <a:srgbClr val="D7DCE4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AEDEF6-CCB6-4F62-9B59-E9E4AFA0E9B5}"/>
              </a:ext>
            </a:extLst>
          </p:cNvPr>
          <p:cNvSpPr>
            <a:spLocks noGrp="1"/>
          </p:cNvSpPr>
          <p:nvPr/>
        </p:nvSpPr>
        <p:spPr>
          <a:xfrm>
            <a:off x="495300" y="4838700"/>
            <a:ext cx="2190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B1220"/>
                </a:solidFill>
              </a:defRPr>
            </a:pPr>
            <a:r>
              <a:rPr sz="1050" b="1">
                <a:solidFill>
                  <a:srgbClr val="0B1220"/>
                </a:solidFill>
              </a:rPr>
              <a:t>Tuyển dụng / MKT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C53B59-CA8B-4EFC-A994-68A45DAF8B3D}"/>
              </a:ext>
            </a:extLst>
          </p:cNvPr>
          <p:cNvSpPr>
            <a:spLocks noGrp="1"/>
          </p:cNvSpPr>
          <p:nvPr/>
        </p:nvSpPr>
        <p:spPr>
          <a:xfrm>
            <a:off x="2781300" y="4762500"/>
            <a:ext cx="523875" cy="11430"/>
          </a:xfrm>
          <a:prstGeom prst="rect">
            <a:avLst/>
          </a:prstGeom>
          <a:solidFill>
            <a:srgbClr val="D7DCE4"/>
          </a:solidFill>
          <a:ln w="0">
            <a:solidFill>
              <a:srgbClr val="D7DCE4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29C3EA-FF4D-4D97-9A4B-AEA9C7C30719}"/>
              </a:ext>
            </a:extLst>
          </p:cNvPr>
          <p:cNvSpPr>
            <a:spLocks noGrp="1"/>
          </p:cNvSpPr>
          <p:nvPr/>
        </p:nvSpPr>
        <p:spPr>
          <a:xfrm>
            <a:off x="2876550" y="4838700"/>
            <a:ext cx="4857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Quản lý ứng viên và chiến dịch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507450-7CEE-4B86-B63E-7F514BC14CD8}"/>
              </a:ext>
            </a:extLst>
          </p:cNvPr>
          <p:cNvSpPr>
            <a:spLocks noGrp="1"/>
          </p:cNvSpPr>
          <p:nvPr/>
        </p:nvSpPr>
        <p:spPr>
          <a:xfrm>
            <a:off x="8362950" y="1809750"/>
            <a:ext cx="2952750" cy="323850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975B4CE-87EF-47EB-A4B5-C7FF8887141B}"/>
              </a:ext>
            </a:extLst>
          </p:cNvPr>
          <p:cNvSpPr>
            <a:spLocks noGrp="1"/>
          </p:cNvSpPr>
          <p:nvPr/>
        </p:nvSpPr>
        <p:spPr>
          <a:xfrm>
            <a:off x="8667750" y="21526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Ranh giới quan trọng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99E503-A89C-4D27-8749-94645C4C6CDA}"/>
              </a:ext>
            </a:extLst>
          </p:cNvPr>
          <p:cNvSpPr>
            <a:spLocks noGrp="1"/>
          </p:cNvSpPr>
          <p:nvPr/>
        </p:nvSpPr>
        <p:spPr>
          <a:xfrm>
            <a:off x="8667750" y="27813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9F6E"/>
                </a:solidFill>
              </a:defRPr>
            </a:pPr>
            <a:r>
              <a:rPr sz="1200" b="1">
                <a:solidFill>
                  <a:srgbClr val="0F9F6E"/>
                </a:solidFill>
              </a:rPr>
              <a:t>•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06C680-4539-4DCB-934B-4B44F4FC9FFD}"/>
              </a:ext>
            </a:extLst>
          </p:cNvPr>
          <p:cNvSpPr>
            <a:spLocks noGrp="1"/>
          </p:cNvSpPr>
          <p:nvPr/>
        </p:nvSpPr>
        <p:spPr>
          <a:xfrm>
            <a:off x="8915400" y="27813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0B1220"/>
                </a:solidFill>
              </a:defRPr>
            </a:pPr>
            <a:r>
              <a:rPr sz="1163" b="0" dirty="0" err="1">
                <a:solidFill>
                  <a:srgbClr val="0B1220"/>
                </a:solidFill>
              </a:rPr>
              <a:t>Không</a:t>
            </a:r>
            <a:r>
              <a:rPr sz="1163" b="0" dirty="0">
                <a:solidFill>
                  <a:srgbClr val="0B1220"/>
                </a:solidFill>
              </a:rPr>
              <a:t> </a:t>
            </a:r>
            <a:r>
              <a:rPr sz="1163" b="0" dirty="0" err="1">
                <a:solidFill>
                  <a:srgbClr val="0B1220"/>
                </a:solidFill>
              </a:rPr>
              <a:t>có</a:t>
            </a:r>
            <a:r>
              <a:rPr sz="1163" b="0" dirty="0">
                <a:solidFill>
                  <a:srgbClr val="0B1220"/>
                </a:solidFill>
              </a:rPr>
              <a:t> </a:t>
            </a:r>
            <a:r>
              <a:rPr lang="en-US" sz="1163" dirty="0">
                <a:solidFill>
                  <a:srgbClr val="0B1220"/>
                </a:solidFill>
              </a:rPr>
              <a:t>Quản </a:t>
            </a:r>
            <a:r>
              <a:rPr lang="en-US" sz="1163" dirty="0" err="1">
                <a:solidFill>
                  <a:srgbClr val="0B1220"/>
                </a:solidFill>
              </a:rPr>
              <a:t>trị</a:t>
            </a:r>
            <a:r>
              <a:rPr lang="en-US" sz="1163" dirty="0">
                <a:solidFill>
                  <a:srgbClr val="0B1220"/>
                </a:solidFill>
              </a:rPr>
              <a:t> </a:t>
            </a:r>
            <a:r>
              <a:rPr lang="en-US" sz="1163" dirty="0" err="1">
                <a:solidFill>
                  <a:srgbClr val="0B1220"/>
                </a:solidFill>
              </a:rPr>
              <a:t>cơ</a:t>
            </a:r>
            <a:r>
              <a:rPr lang="en-US" sz="1163" dirty="0">
                <a:solidFill>
                  <a:srgbClr val="0B1220"/>
                </a:solidFill>
              </a:rPr>
              <a:t> </a:t>
            </a:r>
            <a:r>
              <a:rPr lang="en-US" sz="1163" dirty="0" err="1">
                <a:solidFill>
                  <a:srgbClr val="0B1220"/>
                </a:solidFill>
              </a:rPr>
              <a:t>sở</a:t>
            </a:r>
            <a:r>
              <a:rPr lang="en-US" sz="1163" dirty="0">
                <a:solidFill>
                  <a:srgbClr val="0B1220"/>
                </a:solidFill>
              </a:rPr>
              <a:t> </a:t>
            </a:r>
            <a:r>
              <a:rPr lang="en-US" sz="1163" dirty="0" err="1">
                <a:solidFill>
                  <a:srgbClr val="0B1220"/>
                </a:solidFill>
              </a:rPr>
              <a:t>dữ</a:t>
            </a:r>
            <a:r>
              <a:rPr lang="en-US" sz="1163" dirty="0">
                <a:solidFill>
                  <a:srgbClr val="0B1220"/>
                </a:solidFill>
              </a:rPr>
              <a:t> </a:t>
            </a:r>
            <a:r>
              <a:rPr lang="en-US" sz="1163" dirty="0" err="1">
                <a:solidFill>
                  <a:srgbClr val="0B1220"/>
                </a:solidFill>
              </a:rPr>
              <a:t>liệu</a:t>
            </a:r>
            <a:r>
              <a:rPr lang="en-US" sz="1163" dirty="0">
                <a:solidFill>
                  <a:srgbClr val="0B1220"/>
                </a:solidFill>
              </a:rPr>
              <a:t> </a:t>
            </a:r>
            <a:r>
              <a:rPr lang="en-US" sz="1163" dirty="0" err="1">
                <a:solidFill>
                  <a:srgbClr val="0B1220"/>
                </a:solidFill>
              </a:rPr>
              <a:t>như</a:t>
            </a:r>
            <a:r>
              <a:rPr lang="en-US" sz="1163" dirty="0">
                <a:solidFill>
                  <a:srgbClr val="0B1220"/>
                </a:solidFill>
              </a:rPr>
              <a:t> admin</a:t>
            </a:r>
            <a:r>
              <a:rPr sz="1163" b="0" dirty="0">
                <a:solidFill>
                  <a:srgbClr val="0B1220"/>
                </a:solidFill>
              </a:rPr>
              <a:t>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0752B41-9FD1-4DCA-B67A-2BAEC017AB90}"/>
              </a:ext>
            </a:extLst>
          </p:cNvPr>
          <p:cNvSpPr>
            <a:spLocks noGrp="1"/>
          </p:cNvSpPr>
          <p:nvPr/>
        </p:nvSpPr>
        <p:spPr>
          <a:xfrm>
            <a:off x="8667750" y="33147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9F6E"/>
                </a:solidFill>
              </a:defRPr>
            </a:pPr>
            <a:r>
              <a:rPr sz="1200" b="1">
                <a:solidFill>
                  <a:srgbClr val="0F9F6E"/>
                </a:solidFill>
              </a:rPr>
              <a:t>•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EEABF5E-FF96-4413-A5A3-60BE60AE8C64}"/>
              </a:ext>
            </a:extLst>
          </p:cNvPr>
          <p:cNvSpPr>
            <a:spLocks noGrp="1"/>
          </p:cNvSpPr>
          <p:nvPr/>
        </p:nvSpPr>
        <p:spPr>
          <a:xfrm>
            <a:off x="8915400" y="33147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0B1220"/>
                </a:solidFill>
              </a:defRPr>
            </a:pPr>
            <a:r>
              <a:rPr sz="1163" b="0">
                <a:solidFill>
                  <a:srgbClr val="0B1220"/>
                </a:solidFill>
              </a:rPr>
              <a:t>Không cấu hình WiFi / company settings.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E116F0-509A-49A0-85FE-7FB097CD6886}"/>
              </a:ext>
            </a:extLst>
          </p:cNvPr>
          <p:cNvSpPr>
            <a:spLocks noGrp="1"/>
          </p:cNvSpPr>
          <p:nvPr/>
        </p:nvSpPr>
        <p:spPr>
          <a:xfrm>
            <a:off x="8667750" y="38481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9F6E"/>
                </a:solidFill>
              </a:defRPr>
            </a:pPr>
            <a:r>
              <a:rPr sz="1200" b="1">
                <a:solidFill>
                  <a:srgbClr val="0F9F6E"/>
                </a:solidFill>
              </a:rPr>
              <a:t>•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1C2112D-B58F-4253-B3A9-93A5CDD2D6D4}"/>
              </a:ext>
            </a:extLst>
          </p:cNvPr>
          <p:cNvSpPr>
            <a:spLocks noGrp="1"/>
          </p:cNvSpPr>
          <p:nvPr/>
        </p:nvSpPr>
        <p:spPr>
          <a:xfrm>
            <a:off x="8915400" y="38481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0B1220"/>
                </a:solidFill>
              </a:defRPr>
            </a:pPr>
            <a:r>
              <a:rPr sz="1163" b="0">
                <a:solidFill>
                  <a:srgbClr val="0B1220"/>
                </a:solidFill>
              </a:rPr>
              <a:t>Không reset mật khẩu hoặc xóa user nếu UI đang giới hạn cho admin.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4284633-CDFB-43FE-A80B-4505D4473EE0}"/>
              </a:ext>
            </a:extLst>
          </p:cNvPr>
          <p:cNvSpPr>
            <a:spLocks noGrp="1"/>
          </p:cNvSpPr>
          <p:nvPr/>
        </p:nvSpPr>
        <p:spPr>
          <a:xfrm>
            <a:off x="8667750" y="43815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9F6E"/>
                </a:solidFill>
              </a:defRPr>
            </a:pPr>
            <a:r>
              <a:rPr sz="1200" b="1">
                <a:solidFill>
                  <a:srgbClr val="0F9F6E"/>
                </a:solidFill>
              </a:rPr>
              <a:t>•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50CE9B-07E2-4B7C-81CD-E6A4F2CD7441}"/>
              </a:ext>
            </a:extLst>
          </p:cNvPr>
          <p:cNvSpPr>
            <a:spLocks noGrp="1"/>
          </p:cNvSpPr>
          <p:nvPr/>
        </p:nvSpPr>
        <p:spPr>
          <a:xfrm>
            <a:off x="8915400" y="43815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0B1220"/>
                </a:solidFill>
              </a:defRPr>
            </a:pPr>
            <a:r>
              <a:rPr sz="1163" b="0" dirty="0" err="1">
                <a:solidFill>
                  <a:srgbClr val="0B1220"/>
                </a:solidFill>
              </a:rPr>
              <a:t>Một</a:t>
            </a:r>
            <a:r>
              <a:rPr sz="1163" b="0" dirty="0">
                <a:solidFill>
                  <a:srgbClr val="0B1220"/>
                </a:solidFill>
              </a:rPr>
              <a:t> </a:t>
            </a:r>
            <a:r>
              <a:rPr sz="1163" b="0" dirty="0" err="1">
                <a:solidFill>
                  <a:srgbClr val="0B1220"/>
                </a:solidFill>
              </a:rPr>
              <a:t>số</a:t>
            </a:r>
            <a:r>
              <a:rPr sz="1163" b="0" dirty="0">
                <a:solidFill>
                  <a:srgbClr val="0B1220"/>
                </a:solidFill>
              </a:rPr>
              <a:t> workflow </a:t>
            </a:r>
            <a:r>
              <a:rPr sz="1163" b="0" dirty="0" err="1">
                <a:solidFill>
                  <a:srgbClr val="0B1220"/>
                </a:solidFill>
              </a:rPr>
              <a:t>hiệu</a:t>
            </a:r>
            <a:r>
              <a:rPr sz="1163" b="0" dirty="0">
                <a:solidFill>
                  <a:srgbClr val="0B1220"/>
                </a:solidFill>
              </a:rPr>
              <a:t> </a:t>
            </a:r>
            <a:r>
              <a:rPr sz="1163" b="0" dirty="0" err="1">
                <a:solidFill>
                  <a:srgbClr val="0B1220"/>
                </a:solidFill>
              </a:rPr>
              <a:t>suất</a:t>
            </a:r>
            <a:r>
              <a:rPr sz="1163" b="0" dirty="0">
                <a:solidFill>
                  <a:srgbClr val="0B1220"/>
                </a:solidFill>
              </a:rPr>
              <a:t> </a:t>
            </a:r>
            <a:r>
              <a:rPr sz="1163" b="0" dirty="0" err="1">
                <a:solidFill>
                  <a:srgbClr val="0B1220"/>
                </a:solidFill>
              </a:rPr>
              <a:t>yêu</a:t>
            </a:r>
            <a:r>
              <a:rPr sz="1163" b="0" dirty="0">
                <a:solidFill>
                  <a:srgbClr val="0B1220"/>
                </a:solidFill>
              </a:rPr>
              <a:t> </a:t>
            </a:r>
            <a:r>
              <a:rPr sz="1163" b="0" dirty="0" err="1">
                <a:solidFill>
                  <a:srgbClr val="0B1220"/>
                </a:solidFill>
              </a:rPr>
              <a:t>cầu</a:t>
            </a:r>
            <a:r>
              <a:rPr sz="1163" b="0" dirty="0">
                <a:solidFill>
                  <a:srgbClr val="0B1220"/>
                </a:solidFill>
              </a:rPr>
              <a:t> </a:t>
            </a:r>
            <a:r>
              <a:rPr lang="en-US" sz="1163" b="0" dirty="0" err="1">
                <a:solidFill>
                  <a:srgbClr val="0B1220"/>
                </a:solidFill>
              </a:rPr>
              <a:t>bên</a:t>
            </a:r>
            <a:r>
              <a:rPr sz="1163" b="0" dirty="0">
                <a:solidFill>
                  <a:srgbClr val="0B1220"/>
                </a:solidFill>
              </a:rPr>
              <a:t> </a:t>
            </a:r>
            <a:r>
              <a:rPr sz="1163" b="0" dirty="0" err="1">
                <a:solidFill>
                  <a:srgbClr val="0B1220"/>
                </a:solidFill>
              </a:rPr>
              <a:t>HCNS</a:t>
            </a:r>
            <a:r>
              <a:rPr sz="1163" b="0" dirty="0">
                <a:solidFill>
                  <a:srgbClr val="0B122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4948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68BC0A5-1252-48D6-A10D-60DC313505C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675"/>
                </a:solidFill>
              </a:defRPr>
            </a:pPr>
            <a:r>
              <a:rPr sz="975" b="1">
                <a:solidFill>
                  <a:srgbClr val="5E6675"/>
                </a:solidFill>
              </a:rPr>
              <a:t>ADMIN VS HR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01FDF-D850-4634-9C01-FF3745760E75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000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0B1220"/>
                </a:solidFill>
              </a:defRPr>
            </a:pPr>
            <a:r>
              <a:rPr sz="2775" b="1">
                <a:solidFill>
                  <a:srgbClr val="0B1220"/>
                </a:solidFill>
              </a:rPr>
              <a:t>Admin giống Nhân sự ở nghiệp vụ, khác ở quyền sở hữu hệ thống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F4817D-DDF7-4946-9E64-1334395D1406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E6675"/>
                </a:solidFill>
              </a:defRPr>
            </a:pPr>
            <a:r>
              <a:rPr sz="900" b="0">
                <a:solidFill>
                  <a:srgbClr val="5E6675"/>
                </a:solidFill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507BE1-2B6A-48FE-8C22-F4F4E5B1258D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11430"/>
          </a:xfrm>
          <a:prstGeom prst="rect">
            <a:avLst/>
          </a:prstGeom>
          <a:solidFill>
            <a:srgbClr val="C6CBD3"/>
          </a:solidFill>
          <a:ln w="0">
            <a:solidFill>
              <a:srgbClr val="C6CBD3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B8E320-3557-451D-970F-228F4EDD2088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Giống nhau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1DF6EA-A690-4F17-8043-2CCD9F907954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209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F9F6E"/>
                </a:solidFill>
              </a:defRPr>
            </a:pPr>
            <a:r>
              <a:rPr sz="1425" b="1">
                <a:solidFill>
                  <a:srgbClr val="0F9F6E"/>
                </a:solidFill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6C9D8D-6219-4EB6-8C03-AD31C3BA9BD2}"/>
              </a:ext>
            </a:extLst>
          </p:cNvPr>
          <p:cNvSpPr>
            <a:spLocks noGrp="1"/>
          </p:cNvSpPr>
          <p:nvPr/>
        </p:nvSpPr>
        <p:spPr>
          <a:xfrm>
            <a:off x="628650" y="2209800"/>
            <a:ext cx="434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Cùng thấy các khu vực quản lý công ty trong sidebar.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B4B5D0-AF9D-4664-92A0-7CD838D6DEBB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209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F9F6E"/>
                </a:solidFill>
              </a:defRPr>
            </a:pPr>
            <a:r>
              <a:rPr sz="1425" b="1">
                <a:solidFill>
                  <a:srgbClr val="0F9F6E"/>
                </a:solidFill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5E08BD-CC16-48B0-BE3C-FCBD13B4068A}"/>
              </a:ext>
            </a:extLst>
          </p:cNvPr>
          <p:cNvSpPr>
            <a:spLocks noGrp="1"/>
          </p:cNvSpPr>
          <p:nvPr/>
        </p:nvSpPr>
        <p:spPr>
          <a:xfrm>
            <a:off x="628650" y="2686050"/>
            <a:ext cx="434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Cùng xử lý nghiệp vụ vận hành như chấm công, nghỉ phép, lương, phòng ban.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3379AF-F491-43DE-ABB4-ACD51E3A43DC}"/>
              </a:ext>
            </a:extLst>
          </p:cNvPr>
          <p:cNvSpPr>
            <a:spLocks noGrp="1"/>
          </p:cNvSpPr>
          <p:nvPr/>
        </p:nvSpPr>
        <p:spPr>
          <a:xfrm>
            <a:off x="400050" y="3162300"/>
            <a:ext cx="209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F9F6E"/>
                </a:solidFill>
              </a:defRPr>
            </a:pPr>
            <a:r>
              <a:rPr sz="1425" b="1">
                <a:solidFill>
                  <a:srgbClr val="0F9F6E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7624D8-6C50-4643-984E-A5EC8A423507}"/>
              </a:ext>
            </a:extLst>
          </p:cNvPr>
          <p:cNvSpPr>
            <a:spLocks noGrp="1"/>
          </p:cNvSpPr>
          <p:nvPr/>
        </p:nvSpPr>
        <p:spPr>
          <a:xfrm>
            <a:off x="628650" y="3162300"/>
            <a:ext cx="434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Cùng có thể xem dữ liệu tổng hợp thay vì chỉ dữ liệu cá nhân.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FA2DAA-9B8F-490D-9D40-E8BD4BDC3C3F}"/>
              </a:ext>
            </a:extLst>
          </p:cNvPr>
          <p:cNvSpPr>
            <a:spLocks noGrp="1"/>
          </p:cNvSpPr>
          <p:nvPr/>
        </p:nvSpPr>
        <p:spPr>
          <a:xfrm>
            <a:off x="6286500" y="16764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Khác nhau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3BFE96-E313-4734-80ED-BBCA4C2951F4}"/>
              </a:ext>
            </a:extLst>
          </p:cNvPr>
          <p:cNvSpPr>
            <a:spLocks noGrp="1"/>
          </p:cNvSpPr>
          <p:nvPr/>
        </p:nvSpPr>
        <p:spPr>
          <a:xfrm>
            <a:off x="6286500" y="2209800"/>
            <a:ext cx="209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C53030"/>
                </a:solidFill>
              </a:defRPr>
            </a:pPr>
            <a:r>
              <a:rPr sz="1425" b="1">
                <a:solidFill>
                  <a:srgbClr val="C53030"/>
                </a:solidFill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4523C7-9531-4EBC-BE86-C59BB9DAB676}"/>
              </a:ext>
            </a:extLst>
          </p:cNvPr>
          <p:cNvSpPr>
            <a:spLocks noGrp="1"/>
          </p:cNvSpPr>
          <p:nvPr/>
        </p:nvSpPr>
        <p:spPr>
          <a:xfrm>
            <a:off x="6515100" y="2209800"/>
            <a:ext cx="4629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 dirty="0">
                <a:solidFill>
                  <a:srgbClr val="0B1220"/>
                </a:solidFill>
              </a:rPr>
              <a:t>Admin </a:t>
            </a:r>
            <a:r>
              <a:rPr sz="1425" b="0" dirty="0" err="1">
                <a:solidFill>
                  <a:srgbClr val="0B1220"/>
                </a:solidFill>
              </a:rPr>
              <a:t>có</a:t>
            </a:r>
            <a:r>
              <a:rPr sz="1425" b="0" dirty="0">
                <a:solidFill>
                  <a:srgbClr val="0B1220"/>
                </a:solidFill>
              </a:rPr>
              <a:t> DB Admin, Settings </a:t>
            </a:r>
            <a:r>
              <a:rPr sz="1425" b="0" dirty="0" err="1">
                <a:solidFill>
                  <a:srgbClr val="0B1220"/>
                </a:solidFill>
              </a:rPr>
              <a:t>và</a:t>
            </a:r>
            <a:r>
              <a:rPr sz="1425" b="0" dirty="0">
                <a:solidFill>
                  <a:srgbClr val="0B1220"/>
                </a:solidFill>
              </a:rPr>
              <a:t> </a:t>
            </a:r>
            <a:r>
              <a:rPr lang="en-US" sz="1425" dirty="0" err="1">
                <a:solidFill>
                  <a:srgbClr val="0B1220"/>
                </a:solidFill>
              </a:rPr>
              <a:t>cấu</a:t>
            </a:r>
            <a:r>
              <a:rPr lang="en-US" sz="1425" dirty="0">
                <a:solidFill>
                  <a:srgbClr val="0B1220"/>
                </a:solidFill>
              </a:rPr>
              <a:t> </a:t>
            </a:r>
            <a:r>
              <a:rPr lang="en-US" sz="1425" dirty="0" err="1">
                <a:solidFill>
                  <a:srgbClr val="0B1220"/>
                </a:solidFill>
              </a:rPr>
              <a:t>hình</a:t>
            </a:r>
            <a:r>
              <a:rPr lang="en-US" sz="1425" dirty="0">
                <a:solidFill>
                  <a:srgbClr val="0B1220"/>
                </a:solidFill>
              </a:rPr>
              <a:t> </a:t>
            </a:r>
            <a:r>
              <a:rPr lang="en-US" sz="1425" dirty="0" err="1">
                <a:solidFill>
                  <a:srgbClr val="0B1220"/>
                </a:solidFill>
              </a:rPr>
              <a:t>wifi</a:t>
            </a:r>
            <a:r>
              <a:rPr sz="1425" b="0" dirty="0">
                <a:solidFill>
                  <a:srgbClr val="0B1220"/>
                </a:solidFill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01BBC8-8B93-4288-A60C-26253D7AE058}"/>
              </a:ext>
            </a:extLst>
          </p:cNvPr>
          <p:cNvSpPr>
            <a:spLocks noGrp="1"/>
          </p:cNvSpPr>
          <p:nvPr/>
        </p:nvSpPr>
        <p:spPr>
          <a:xfrm>
            <a:off x="6286500" y="2686050"/>
            <a:ext cx="209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C53030"/>
                </a:solidFill>
              </a:defRPr>
            </a:pPr>
            <a:r>
              <a:rPr sz="1425" b="1">
                <a:solidFill>
                  <a:srgbClr val="C53030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F19BF8-CA6E-4959-B75A-20D985682BA8}"/>
              </a:ext>
            </a:extLst>
          </p:cNvPr>
          <p:cNvSpPr>
            <a:spLocks noGrp="1"/>
          </p:cNvSpPr>
          <p:nvPr/>
        </p:nvSpPr>
        <p:spPr>
          <a:xfrm>
            <a:off x="6515100" y="2686050"/>
            <a:ext cx="4629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Admin có quyền sửa / khóa / reset / xóa tài khoản.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4F2B59-FD9F-454E-B964-0C4A51AB14C6}"/>
              </a:ext>
            </a:extLst>
          </p:cNvPr>
          <p:cNvSpPr>
            <a:spLocks noGrp="1"/>
          </p:cNvSpPr>
          <p:nvPr/>
        </p:nvSpPr>
        <p:spPr>
          <a:xfrm>
            <a:off x="6286500" y="3162300"/>
            <a:ext cx="209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C53030"/>
                </a:solidFill>
              </a:defRPr>
            </a:pPr>
            <a:r>
              <a:rPr sz="1425" b="1" dirty="0">
                <a:solidFill>
                  <a:srgbClr val="C53030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D946CC-1E2F-4C37-879F-0092AAA648A8}"/>
              </a:ext>
            </a:extLst>
          </p:cNvPr>
          <p:cNvSpPr>
            <a:spLocks noGrp="1"/>
          </p:cNvSpPr>
          <p:nvPr/>
        </p:nvSpPr>
        <p:spPr>
          <a:xfrm>
            <a:off x="6515100" y="3162300"/>
            <a:ext cx="4629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endParaRPr sz="1425" b="0" dirty="0">
              <a:solidFill>
                <a:srgbClr val="0B122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EE6B9D-EA16-8193-DA2D-F20642B72862}"/>
              </a:ext>
            </a:extLst>
          </p:cNvPr>
          <p:cNvSpPr>
            <a:spLocks noGrp="1"/>
          </p:cNvSpPr>
          <p:nvPr/>
        </p:nvSpPr>
        <p:spPr>
          <a:xfrm>
            <a:off x="6496050" y="2990850"/>
            <a:ext cx="4629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 dirty="0">
                <a:solidFill>
                  <a:srgbClr val="0B1220"/>
                </a:solidFill>
              </a:rPr>
              <a:t>Admin </a:t>
            </a:r>
            <a:r>
              <a:rPr sz="1425" b="0" dirty="0" err="1">
                <a:solidFill>
                  <a:srgbClr val="0B1220"/>
                </a:solidFill>
              </a:rPr>
              <a:t>thấy</a:t>
            </a:r>
            <a:r>
              <a:rPr sz="1425" b="0" dirty="0">
                <a:solidFill>
                  <a:srgbClr val="0B1220"/>
                </a:solidFill>
              </a:rPr>
              <a:t> </a:t>
            </a:r>
            <a:r>
              <a:rPr sz="1425" b="0" dirty="0" err="1">
                <a:solidFill>
                  <a:srgbClr val="0B1220"/>
                </a:solidFill>
              </a:rPr>
              <a:t>toàn</a:t>
            </a:r>
            <a:r>
              <a:rPr sz="1425" b="0" dirty="0">
                <a:solidFill>
                  <a:srgbClr val="0B1220"/>
                </a:solidFill>
              </a:rPr>
              <a:t> </a:t>
            </a:r>
            <a:r>
              <a:rPr sz="1425" b="0" dirty="0" err="1">
                <a:solidFill>
                  <a:srgbClr val="0B1220"/>
                </a:solidFill>
              </a:rPr>
              <a:t>bộ</a:t>
            </a:r>
            <a:r>
              <a:rPr sz="1425" b="0" dirty="0">
                <a:solidFill>
                  <a:srgbClr val="0B1220"/>
                </a:solidFill>
              </a:rPr>
              <a:t> task; </a:t>
            </a:r>
            <a:r>
              <a:rPr sz="1425" b="0" dirty="0" err="1">
                <a:solidFill>
                  <a:srgbClr val="0B1220"/>
                </a:solidFill>
              </a:rPr>
              <a:t>Nhân</a:t>
            </a:r>
            <a:r>
              <a:rPr sz="1425" b="0" dirty="0">
                <a:solidFill>
                  <a:srgbClr val="0B1220"/>
                </a:solidFill>
              </a:rPr>
              <a:t> </a:t>
            </a:r>
            <a:r>
              <a:rPr sz="1425" b="0" dirty="0" err="1">
                <a:solidFill>
                  <a:srgbClr val="0B1220"/>
                </a:solidFill>
              </a:rPr>
              <a:t>sự</a:t>
            </a:r>
            <a:r>
              <a:rPr sz="1425" b="0" dirty="0">
                <a:solidFill>
                  <a:srgbClr val="0B1220"/>
                </a:solidFill>
              </a:rPr>
              <a:t> </a:t>
            </a:r>
            <a:r>
              <a:rPr sz="1425" b="0" dirty="0" err="1">
                <a:solidFill>
                  <a:srgbClr val="0B1220"/>
                </a:solidFill>
              </a:rPr>
              <a:t>thường</a:t>
            </a:r>
            <a:r>
              <a:rPr sz="1425" b="0" dirty="0">
                <a:solidFill>
                  <a:srgbClr val="0B1220"/>
                </a:solidFill>
              </a:rPr>
              <a:t> </a:t>
            </a:r>
            <a:r>
              <a:rPr sz="1425" b="0" dirty="0" err="1">
                <a:solidFill>
                  <a:srgbClr val="0B1220"/>
                </a:solidFill>
              </a:rPr>
              <a:t>bị</a:t>
            </a:r>
            <a:r>
              <a:rPr sz="1425" b="0" dirty="0">
                <a:solidFill>
                  <a:srgbClr val="0B1220"/>
                </a:solidFill>
              </a:rPr>
              <a:t> </a:t>
            </a:r>
            <a:r>
              <a:rPr sz="1425" b="0" dirty="0" err="1">
                <a:solidFill>
                  <a:srgbClr val="0B1220"/>
                </a:solidFill>
              </a:rPr>
              <a:t>ràng</a:t>
            </a:r>
            <a:r>
              <a:rPr sz="1425" b="0" dirty="0">
                <a:solidFill>
                  <a:srgbClr val="0B1220"/>
                </a:solidFill>
              </a:rPr>
              <a:t> </a:t>
            </a:r>
            <a:r>
              <a:rPr sz="1425" b="0" dirty="0" err="1">
                <a:solidFill>
                  <a:srgbClr val="0B1220"/>
                </a:solidFill>
              </a:rPr>
              <a:t>bởi</a:t>
            </a:r>
            <a:r>
              <a:rPr sz="1425" b="0" dirty="0">
                <a:solidFill>
                  <a:srgbClr val="0B1220"/>
                </a:solidFill>
              </a:rPr>
              <a:t> </a:t>
            </a:r>
            <a:r>
              <a:rPr sz="1425" b="0" dirty="0" err="1">
                <a:solidFill>
                  <a:srgbClr val="0B1220"/>
                </a:solidFill>
              </a:rPr>
              <a:t>vai</a:t>
            </a:r>
            <a:r>
              <a:rPr sz="1425" b="0" dirty="0">
                <a:solidFill>
                  <a:srgbClr val="0B1220"/>
                </a:solidFill>
              </a:rPr>
              <a:t> </a:t>
            </a:r>
            <a:r>
              <a:rPr sz="1425" b="0" dirty="0" err="1">
                <a:solidFill>
                  <a:srgbClr val="0B1220"/>
                </a:solidFill>
              </a:rPr>
              <a:t>trò</a:t>
            </a:r>
            <a:r>
              <a:rPr sz="1425" b="0" dirty="0">
                <a:solidFill>
                  <a:srgbClr val="0B1220"/>
                </a:solidFill>
              </a:rPr>
              <a:t> / </a:t>
            </a:r>
            <a:r>
              <a:rPr sz="1425" b="0" dirty="0" err="1">
                <a:solidFill>
                  <a:srgbClr val="0B1220"/>
                </a:solidFill>
              </a:rPr>
              <a:t>phòng</a:t>
            </a:r>
            <a:r>
              <a:rPr sz="1425" b="0" dirty="0">
                <a:solidFill>
                  <a:srgbClr val="0B1220"/>
                </a:solidFill>
              </a:rPr>
              <a:t> ban / </a:t>
            </a:r>
            <a:r>
              <a:rPr sz="1425" b="0" dirty="0" err="1">
                <a:solidFill>
                  <a:srgbClr val="0B1220"/>
                </a:solidFill>
              </a:rPr>
              <a:t>liên</a:t>
            </a:r>
            <a:r>
              <a:rPr sz="1425" b="0" dirty="0">
                <a:solidFill>
                  <a:srgbClr val="0B1220"/>
                </a:solidFill>
              </a:rPr>
              <a:t> </a:t>
            </a:r>
            <a:r>
              <a:rPr sz="1425" b="0" dirty="0" err="1">
                <a:solidFill>
                  <a:srgbClr val="0B1220"/>
                </a:solidFill>
              </a:rPr>
              <a:t>quan</a:t>
            </a:r>
            <a:r>
              <a:rPr sz="1425" b="0" dirty="0">
                <a:solidFill>
                  <a:srgbClr val="0B122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033744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1014</Words>
  <Application>Microsoft Office PowerPoint</Application>
  <DocSecurity>0</DocSecurity>
  <PresentationFormat>Widescreen</PresentationFormat>
  <Paragraphs>152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Nguyen Trung Duc</cp:lastModifiedBy>
  <cp:revision>4</cp:revision>
  <dcterms:created xsi:type="dcterms:W3CDTF">2026-07-23T03:00:46Z</dcterms:created>
  <dcterms:modified xsi:type="dcterms:W3CDTF">2026-07-23T03:09:02Z</dcterms:modified>
</cp:coreProperties>
</file>